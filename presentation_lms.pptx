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Abadi" panose="020B0604020104020204" pitchFamily="34" charset="0"/>
      <p:regular r:id="rId13"/>
      <p:bold r:id="rId14"/>
    </p:embeddedFont>
    <p:embeddedFont>
      <p:font typeface="Source Sans 3"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2"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3515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rgbClr val="FFFFFF"/>
          </a:fgClr>
          <a:bgClr>
            <a:srgbClr val="FFFFFF"/>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2137410"/>
            <a:ext cx="7416403" cy="2103834"/>
          </a:xfrm>
          <a:prstGeom prst="rect">
            <a:avLst/>
          </a:prstGeom>
          <a:noFill/>
          <a:ln/>
        </p:spPr>
        <p:txBody>
          <a:bodyPr wrap="square" lIns="0" tIns="0" rIns="0" bIns="0" rtlCol="0" anchor="t"/>
          <a:lstStyle/>
          <a:p>
            <a:pPr marL="0" indent="0" algn="l">
              <a:lnSpc>
                <a:spcPts val="5500"/>
              </a:lnSpc>
              <a:buNone/>
            </a:pPr>
            <a:r>
              <a:rPr lang="en-US" sz="4400" b="1" dirty="0">
                <a:solidFill>
                  <a:srgbClr val="000000"/>
                </a:solidFill>
                <a:latin typeface="Abadi" panose="020B0604020104020204" pitchFamily="34" charset="0"/>
                <a:ea typeface="Montserrat Bold" pitchFamily="34" charset="-122"/>
                <a:cs typeface="Montserrat Bold" pitchFamily="34" charset="-120"/>
              </a:rPr>
              <a:t>Unveiling Our Next-Gen Learning Management System</a:t>
            </a:r>
            <a:endParaRPr lang="en-US" sz="4400" dirty="0"/>
          </a:p>
        </p:txBody>
      </p:sp>
      <p:sp>
        <p:nvSpPr>
          <p:cNvPr id="4" name="Text 1"/>
          <p:cNvSpPr/>
          <p:nvPr/>
        </p:nvSpPr>
        <p:spPr>
          <a:xfrm>
            <a:off x="863798" y="4611410"/>
            <a:ext cx="7416403" cy="148066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Welcome to the presentation of our new Learning Management System (LMS), meticulously crafted to redefine the educational experience. We're excited to showcase how this robust platform streamlines learning processes for both institutions and learners.</a:t>
            </a:r>
            <a:endParaRPr lang="en-US" sz="1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863798" y="1854875"/>
            <a:ext cx="8588097" cy="560903"/>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Abadi" panose="020B0604020104020204" pitchFamily="34" charset="0"/>
                <a:ea typeface="Montserrat Bold" pitchFamily="34" charset="-122"/>
                <a:cs typeface="Montserrat Bold" pitchFamily="34" charset="-120"/>
              </a:rPr>
              <a:t>Meet the Innovators Behind the LMS</a:t>
            </a:r>
            <a:endParaRPr lang="en-US" sz="3500" dirty="0"/>
          </a:p>
        </p:txBody>
      </p:sp>
      <p:sp>
        <p:nvSpPr>
          <p:cNvPr id="3" name="Shape 1"/>
          <p:cNvSpPr/>
          <p:nvPr/>
        </p:nvSpPr>
        <p:spPr>
          <a:xfrm>
            <a:off x="863798" y="2909411"/>
            <a:ext cx="12902803" cy="3465195"/>
          </a:xfrm>
          <a:prstGeom prst="roundRect">
            <a:avLst>
              <a:gd name="adj" fmla="val 1068"/>
            </a:avLst>
          </a:prstGeom>
          <a:solidFill>
            <a:srgbClr val="F2EEEE"/>
          </a:solidFill>
          <a:ln/>
        </p:spPr>
        <p:txBody>
          <a:bodyPr/>
          <a:lstStyle/>
          <a:p>
            <a:endParaRPr lang="en-US"/>
          </a:p>
        </p:txBody>
      </p:sp>
      <p:sp>
        <p:nvSpPr>
          <p:cNvPr id="4" name="Shape 2"/>
          <p:cNvSpPr/>
          <p:nvPr/>
        </p:nvSpPr>
        <p:spPr>
          <a:xfrm>
            <a:off x="863798" y="2909411"/>
            <a:ext cx="4300895" cy="2102763"/>
          </a:xfrm>
          <a:prstGeom prst="roundRect">
            <a:avLst>
              <a:gd name="adj" fmla="val 1761"/>
            </a:avLst>
          </a:prstGeom>
          <a:solidFill>
            <a:srgbClr val="F2EEEE"/>
          </a:solidFill>
          <a:ln/>
        </p:spPr>
        <p:txBody>
          <a:bodyPr/>
          <a:lstStyle/>
          <a:p>
            <a:endParaRPr lang="en-US"/>
          </a:p>
        </p:txBody>
      </p:sp>
      <p:sp>
        <p:nvSpPr>
          <p:cNvPr id="5" name="Text 3"/>
          <p:cNvSpPr/>
          <p:nvPr/>
        </p:nvSpPr>
        <p:spPr>
          <a:xfrm>
            <a:off x="1110615" y="3156228"/>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Abadi" panose="020B0604020104020204" pitchFamily="34" charset="0"/>
                <a:ea typeface="Montserrat Bold" pitchFamily="34" charset="-122"/>
                <a:cs typeface="Montserrat Bold" pitchFamily="34" charset="-120"/>
              </a:rPr>
              <a:t>Ali Mohsen</a:t>
            </a:r>
            <a:endParaRPr lang="en-US" sz="2200" dirty="0"/>
          </a:p>
        </p:txBody>
      </p:sp>
      <p:sp>
        <p:nvSpPr>
          <p:cNvPr id="6" name="Text 4"/>
          <p:cNvSpPr/>
          <p:nvPr/>
        </p:nvSpPr>
        <p:spPr>
          <a:xfrm>
            <a:off x="1110615" y="3654862"/>
            <a:ext cx="3437096"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Lecture Management: Scheduling, Testing, Frontend, Backend</a:t>
            </a:r>
            <a:endParaRPr lang="en-US" sz="1900" dirty="0"/>
          </a:p>
        </p:txBody>
      </p:sp>
      <p:sp>
        <p:nvSpPr>
          <p:cNvPr id="7" name="Shape 5"/>
          <p:cNvSpPr/>
          <p:nvPr/>
        </p:nvSpPr>
        <p:spPr>
          <a:xfrm>
            <a:off x="5164693" y="2909411"/>
            <a:ext cx="4300895" cy="2102763"/>
          </a:xfrm>
          <a:prstGeom prst="rect">
            <a:avLst/>
          </a:prstGeom>
          <a:solidFill>
            <a:srgbClr val="F2EEEE"/>
          </a:solidFill>
          <a:ln/>
        </p:spPr>
        <p:txBody>
          <a:bodyPr/>
          <a:lstStyle/>
          <a:p>
            <a:endParaRPr lang="en-US"/>
          </a:p>
        </p:txBody>
      </p:sp>
      <p:sp>
        <p:nvSpPr>
          <p:cNvPr id="8" name="Shape 6"/>
          <p:cNvSpPr/>
          <p:nvPr/>
        </p:nvSpPr>
        <p:spPr>
          <a:xfrm>
            <a:off x="5164693" y="2909411"/>
            <a:ext cx="30480" cy="2102763"/>
          </a:xfrm>
          <a:prstGeom prst="roundRect">
            <a:avLst>
              <a:gd name="adj" fmla="val 121472"/>
            </a:avLst>
          </a:prstGeom>
          <a:solidFill>
            <a:srgbClr val="D8D4D4"/>
          </a:solidFill>
          <a:ln/>
        </p:spPr>
        <p:txBody>
          <a:bodyPr/>
          <a:lstStyle/>
          <a:p>
            <a:endParaRPr lang="en-US"/>
          </a:p>
        </p:txBody>
      </p:sp>
      <p:sp>
        <p:nvSpPr>
          <p:cNvPr id="9" name="Text 7"/>
          <p:cNvSpPr/>
          <p:nvPr/>
        </p:nvSpPr>
        <p:spPr>
          <a:xfrm>
            <a:off x="5781675" y="3156228"/>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Abadi" panose="020B0604020104020204" pitchFamily="34" charset="0"/>
                <a:ea typeface="Montserrat Bold" pitchFamily="34" charset="-122"/>
                <a:cs typeface="Montserrat Bold" pitchFamily="34" charset="-120"/>
              </a:rPr>
              <a:t>Hania</a:t>
            </a:r>
            <a:endParaRPr lang="en-US" sz="2200" dirty="0"/>
          </a:p>
        </p:txBody>
      </p:sp>
      <p:sp>
        <p:nvSpPr>
          <p:cNvPr id="10" name="Text 8"/>
          <p:cNvSpPr/>
          <p:nvPr/>
        </p:nvSpPr>
        <p:spPr>
          <a:xfrm>
            <a:off x="5781675" y="3654862"/>
            <a:ext cx="3066931" cy="1110496"/>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Course Management: CRUD Operations, Frontend, Backend</a:t>
            </a:r>
            <a:endParaRPr lang="en-US" sz="1900" dirty="0"/>
          </a:p>
        </p:txBody>
      </p:sp>
      <p:sp>
        <p:nvSpPr>
          <p:cNvPr id="11" name="Shape 9"/>
          <p:cNvSpPr/>
          <p:nvPr/>
        </p:nvSpPr>
        <p:spPr>
          <a:xfrm>
            <a:off x="4856202" y="3652242"/>
            <a:ext cx="616982" cy="616982"/>
          </a:xfrm>
          <a:prstGeom prst="roundRect">
            <a:avLst>
              <a:gd name="adj" fmla="val 6001"/>
            </a:avLst>
          </a:prstGeom>
          <a:solidFill>
            <a:srgbClr val="FFFFFF"/>
          </a:solidFill>
          <a:ln w="30480">
            <a:solidFill>
              <a:srgbClr val="D8D4D4"/>
            </a:solidFill>
            <a:prstDash val="solid"/>
          </a:ln>
        </p:spPr>
        <p:txBody>
          <a:bodyPr/>
          <a:lstStyle/>
          <a:p>
            <a:endParaRPr lang="en-US"/>
          </a:p>
        </p:txBody>
      </p:sp>
      <p:pic>
        <p:nvPicPr>
          <p:cNvPr id="1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0388" y="3806428"/>
            <a:ext cx="308491" cy="308491"/>
          </a:xfrm>
          <a:prstGeom prst="rect">
            <a:avLst/>
          </a:prstGeom>
        </p:spPr>
      </p:pic>
      <p:sp>
        <p:nvSpPr>
          <p:cNvPr id="13" name="Shape 10"/>
          <p:cNvSpPr/>
          <p:nvPr/>
        </p:nvSpPr>
        <p:spPr>
          <a:xfrm>
            <a:off x="9465588" y="2909411"/>
            <a:ext cx="4301014" cy="2102763"/>
          </a:xfrm>
          <a:prstGeom prst="rect">
            <a:avLst/>
          </a:prstGeom>
          <a:solidFill>
            <a:srgbClr val="F2EEEE"/>
          </a:solidFill>
          <a:ln/>
        </p:spPr>
        <p:txBody>
          <a:bodyPr/>
          <a:lstStyle/>
          <a:p>
            <a:endParaRPr lang="en-US"/>
          </a:p>
        </p:txBody>
      </p:sp>
      <p:sp>
        <p:nvSpPr>
          <p:cNvPr id="14" name="Shape 11"/>
          <p:cNvSpPr/>
          <p:nvPr/>
        </p:nvSpPr>
        <p:spPr>
          <a:xfrm>
            <a:off x="9465588" y="2909411"/>
            <a:ext cx="30480" cy="2102763"/>
          </a:xfrm>
          <a:prstGeom prst="roundRect">
            <a:avLst>
              <a:gd name="adj" fmla="val 121472"/>
            </a:avLst>
          </a:prstGeom>
          <a:solidFill>
            <a:srgbClr val="D8D4D4"/>
          </a:solidFill>
          <a:ln/>
        </p:spPr>
        <p:txBody>
          <a:bodyPr/>
          <a:lstStyle/>
          <a:p>
            <a:endParaRPr lang="en-US"/>
          </a:p>
        </p:txBody>
      </p:sp>
      <p:sp>
        <p:nvSpPr>
          <p:cNvPr id="15" name="Text 12"/>
          <p:cNvSpPr/>
          <p:nvPr/>
        </p:nvSpPr>
        <p:spPr>
          <a:xfrm>
            <a:off x="10082570" y="3156228"/>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Abadi" panose="020B0604020104020204" pitchFamily="34" charset="0"/>
                <a:ea typeface="Montserrat Bold" pitchFamily="34" charset="-122"/>
                <a:cs typeface="Montserrat Bold" pitchFamily="34" charset="-120"/>
              </a:rPr>
              <a:t>Yara</a:t>
            </a:r>
            <a:endParaRPr lang="en-US" sz="2200" dirty="0"/>
          </a:p>
        </p:txBody>
      </p:sp>
      <p:sp>
        <p:nvSpPr>
          <p:cNvPr id="16" name="Text 13"/>
          <p:cNvSpPr/>
          <p:nvPr/>
        </p:nvSpPr>
        <p:spPr>
          <a:xfrm>
            <a:off x="10082570" y="3654862"/>
            <a:ext cx="3437215" cy="74033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Quiz Engine: Creation, Time Validation, Submission, Grading</a:t>
            </a:r>
            <a:endParaRPr lang="en-US" sz="1900" dirty="0"/>
          </a:p>
        </p:txBody>
      </p:sp>
      <p:sp>
        <p:nvSpPr>
          <p:cNvPr id="17" name="Shape 14"/>
          <p:cNvSpPr/>
          <p:nvPr/>
        </p:nvSpPr>
        <p:spPr>
          <a:xfrm>
            <a:off x="9157097" y="3652242"/>
            <a:ext cx="616982" cy="616982"/>
          </a:xfrm>
          <a:prstGeom prst="roundRect">
            <a:avLst>
              <a:gd name="adj" fmla="val 6001"/>
            </a:avLst>
          </a:prstGeom>
          <a:solidFill>
            <a:srgbClr val="FFFFFF"/>
          </a:solidFill>
          <a:ln w="30480">
            <a:solidFill>
              <a:srgbClr val="D8D4D4"/>
            </a:solidFill>
            <a:prstDash val="solid"/>
          </a:ln>
        </p:spPr>
        <p:txBody>
          <a:bodyPr/>
          <a:lstStyle/>
          <a:p>
            <a:endParaRPr lang="en-US"/>
          </a:p>
        </p:txBody>
      </p:sp>
      <p:pic>
        <p:nvPicPr>
          <p:cNvPr id="1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11283" y="3806428"/>
            <a:ext cx="308491" cy="308491"/>
          </a:xfrm>
          <a:prstGeom prst="rect">
            <a:avLst/>
          </a:prstGeom>
        </p:spPr>
      </p:pic>
      <p:sp>
        <p:nvSpPr>
          <p:cNvPr id="19" name="Shape 15"/>
          <p:cNvSpPr/>
          <p:nvPr/>
        </p:nvSpPr>
        <p:spPr>
          <a:xfrm>
            <a:off x="863798" y="5012174"/>
            <a:ext cx="6451402" cy="1362432"/>
          </a:xfrm>
          <a:prstGeom prst="rect">
            <a:avLst/>
          </a:prstGeom>
          <a:solidFill>
            <a:srgbClr val="F2EEEE"/>
          </a:solidFill>
          <a:ln/>
        </p:spPr>
        <p:txBody>
          <a:bodyPr/>
          <a:lstStyle/>
          <a:p>
            <a:endParaRPr lang="en-US"/>
          </a:p>
        </p:txBody>
      </p:sp>
      <p:sp>
        <p:nvSpPr>
          <p:cNvPr id="20" name="Shape 16"/>
          <p:cNvSpPr/>
          <p:nvPr/>
        </p:nvSpPr>
        <p:spPr>
          <a:xfrm>
            <a:off x="863798" y="5012174"/>
            <a:ext cx="6451402" cy="30480"/>
          </a:xfrm>
          <a:prstGeom prst="roundRect">
            <a:avLst>
              <a:gd name="adj" fmla="val 121472"/>
            </a:avLst>
          </a:prstGeom>
          <a:solidFill>
            <a:srgbClr val="D8D4D4"/>
          </a:solidFill>
          <a:ln/>
        </p:spPr>
        <p:txBody>
          <a:bodyPr/>
          <a:lstStyle/>
          <a:p>
            <a:endParaRPr lang="en-US"/>
          </a:p>
        </p:txBody>
      </p:sp>
      <p:sp>
        <p:nvSpPr>
          <p:cNvPr id="21" name="Text 17"/>
          <p:cNvSpPr/>
          <p:nvPr/>
        </p:nvSpPr>
        <p:spPr>
          <a:xfrm>
            <a:off x="1110615" y="5258991"/>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Abadi" panose="020B0604020104020204" pitchFamily="34" charset="0"/>
                <a:ea typeface="Montserrat Bold" pitchFamily="34" charset="-122"/>
                <a:cs typeface="Montserrat Bold" pitchFamily="34" charset="-120"/>
              </a:rPr>
              <a:t>Nada Ahmed</a:t>
            </a:r>
            <a:endParaRPr lang="en-US" sz="2200" dirty="0"/>
          </a:p>
        </p:txBody>
      </p:sp>
      <p:sp>
        <p:nvSpPr>
          <p:cNvPr id="22" name="Text 18"/>
          <p:cNvSpPr/>
          <p:nvPr/>
        </p:nvSpPr>
        <p:spPr>
          <a:xfrm>
            <a:off x="1110615" y="5757624"/>
            <a:ext cx="5587603" cy="370165"/>
          </a:xfrm>
          <a:prstGeom prst="rect">
            <a:avLst/>
          </a:prstGeom>
          <a:noFill/>
          <a:ln/>
        </p:spPr>
        <p:txBody>
          <a:bodyPr wrap="non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Assignment Management</a:t>
            </a:r>
            <a:endParaRPr lang="en-US" sz="1900" dirty="0"/>
          </a:p>
        </p:txBody>
      </p:sp>
      <p:sp>
        <p:nvSpPr>
          <p:cNvPr id="23" name="Shape 19"/>
          <p:cNvSpPr/>
          <p:nvPr/>
        </p:nvSpPr>
        <p:spPr>
          <a:xfrm>
            <a:off x="7315200" y="5012174"/>
            <a:ext cx="6451402" cy="1362432"/>
          </a:xfrm>
          <a:prstGeom prst="rect">
            <a:avLst/>
          </a:prstGeom>
          <a:solidFill>
            <a:srgbClr val="F2EEEE"/>
          </a:solidFill>
          <a:ln/>
        </p:spPr>
        <p:txBody>
          <a:bodyPr/>
          <a:lstStyle/>
          <a:p>
            <a:endParaRPr lang="en-US"/>
          </a:p>
        </p:txBody>
      </p:sp>
      <p:sp>
        <p:nvSpPr>
          <p:cNvPr id="24" name="Shape 20"/>
          <p:cNvSpPr/>
          <p:nvPr/>
        </p:nvSpPr>
        <p:spPr>
          <a:xfrm>
            <a:off x="7315200" y="5012174"/>
            <a:ext cx="30480" cy="1362432"/>
          </a:xfrm>
          <a:prstGeom prst="roundRect">
            <a:avLst>
              <a:gd name="adj" fmla="val 121472"/>
            </a:avLst>
          </a:prstGeom>
          <a:solidFill>
            <a:srgbClr val="D8D4D4"/>
          </a:solidFill>
          <a:ln/>
        </p:spPr>
        <p:txBody>
          <a:bodyPr/>
          <a:lstStyle/>
          <a:p>
            <a:endParaRPr lang="en-US"/>
          </a:p>
        </p:txBody>
      </p:sp>
      <p:sp>
        <p:nvSpPr>
          <p:cNvPr id="25" name="Shape 21"/>
          <p:cNvSpPr/>
          <p:nvPr/>
        </p:nvSpPr>
        <p:spPr>
          <a:xfrm>
            <a:off x="7315200" y="5012174"/>
            <a:ext cx="6451402" cy="30480"/>
          </a:xfrm>
          <a:prstGeom prst="roundRect">
            <a:avLst>
              <a:gd name="adj" fmla="val 121472"/>
            </a:avLst>
          </a:prstGeom>
          <a:solidFill>
            <a:srgbClr val="D8D4D4"/>
          </a:solidFill>
          <a:ln/>
        </p:spPr>
        <p:txBody>
          <a:bodyPr/>
          <a:lstStyle/>
          <a:p>
            <a:endParaRPr lang="en-US"/>
          </a:p>
        </p:txBody>
      </p:sp>
      <p:sp>
        <p:nvSpPr>
          <p:cNvPr id="26" name="Text 22"/>
          <p:cNvSpPr/>
          <p:nvPr/>
        </p:nvSpPr>
        <p:spPr>
          <a:xfrm>
            <a:off x="7932182" y="5258991"/>
            <a:ext cx="4223028" cy="350639"/>
          </a:xfrm>
          <a:prstGeom prst="rect">
            <a:avLst/>
          </a:prstGeom>
          <a:noFill/>
          <a:ln/>
        </p:spPr>
        <p:txBody>
          <a:bodyPr wrap="none" lIns="0" tIns="0" rIns="0" bIns="0" rtlCol="0" anchor="t"/>
          <a:lstStyle/>
          <a:p>
            <a:pPr marL="0" indent="0" algn="l">
              <a:lnSpc>
                <a:spcPts val="2750"/>
              </a:lnSpc>
              <a:buNone/>
            </a:pPr>
            <a:r>
              <a:rPr lang="en-US" sz="2200" b="1" dirty="0">
                <a:solidFill>
                  <a:srgbClr val="3D3838"/>
                </a:solidFill>
                <a:latin typeface="Abadi" panose="020B0604020104020204" pitchFamily="34" charset="0"/>
                <a:ea typeface="Montserrat Bold" pitchFamily="34" charset="-122"/>
                <a:cs typeface="Montserrat Bold" pitchFamily="34" charset="-120"/>
              </a:rPr>
              <a:t>Nada Hossam &amp; Abdelrhman</a:t>
            </a:r>
            <a:endParaRPr lang="en-US" sz="2200" dirty="0"/>
          </a:p>
        </p:txBody>
      </p:sp>
      <p:sp>
        <p:nvSpPr>
          <p:cNvPr id="27" name="Text 23"/>
          <p:cNvSpPr/>
          <p:nvPr/>
        </p:nvSpPr>
        <p:spPr>
          <a:xfrm>
            <a:off x="7932182" y="5757624"/>
            <a:ext cx="5587603" cy="370165"/>
          </a:xfrm>
          <a:prstGeom prst="rect">
            <a:avLst/>
          </a:prstGeom>
          <a:noFill/>
          <a:ln/>
        </p:spPr>
        <p:txBody>
          <a:bodyPr wrap="non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System Design: Use Case, Class, &amp; Sequence Diagrams</a:t>
            </a:r>
            <a:endParaRPr lang="en-US" sz="1900" dirty="0"/>
          </a:p>
        </p:txBody>
      </p:sp>
      <p:sp>
        <p:nvSpPr>
          <p:cNvPr id="28" name="Shape 24"/>
          <p:cNvSpPr/>
          <p:nvPr/>
        </p:nvSpPr>
        <p:spPr>
          <a:xfrm>
            <a:off x="7006709" y="5384840"/>
            <a:ext cx="616982" cy="616982"/>
          </a:xfrm>
          <a:prstGeom prst="roundRect">
            <a:avLst>
              <a:gd name="adj" fmla="val 6001"/>
            </a:avLst>
          </a:prstGeom>
          <a:solidFill>
            <a:srgbClr val="FFFFFF"/>
          </a:solidFill>
          <a:ln w="30480">
            <a:solidFill>
              <a:srgbClr val="D8D4D4"/>
            </a:solidFill>
            <a:prstDash val="solid"/>
          </a:ln>
        </p:spPr>
        <p:txBody>
          <a:bodyPr/>
          <a:lstStyle/>
          <a:p>
            <a:endParaRPr lang="en-US"/>
          </a:p>
        </p:txBody>
      </p:sp>
      <p:pic>
        <p:nvPicPr>
          <p:cNvPr id="2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60895" y="5539026"/>
            <a:ext cx="308491" cy="3084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childTnLst>
                                </p:cTn>
                              </p:par>
                              <p:par>
                                <p:cTn id="56" presetID="10"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500"/>
                                        <p:tgtEl>
                                          <p:spTgt spid="2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fade">
                                      <p:cBhvr>
                                        <p:cTn id="86" dur="500"/>
                                        <p:tgtEl>
                                          <p:spTgt spid="26"/>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7"/>
                                        </p:tgtEl>
                                        <p:attrNameLst>
                                          <p:attrName>style.visibility</p:attrName>
                                        </p:attrNameLst>
                                      </p:cBhvr>
                                      <p:to>
                                        <p:strVal val="visible"/>
                                      </p:to>
                                    </p:set>
                                    <p:animEffect transition="in" filter="fade">
                                      <p:cBhvr>
                                        <p:cTn id="89" dur="500"/>
                                        <p:tgtEl>
                                          <p:spTgt spid="27"/>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8"/>
                                        </p:tgtEl>
                                        <p:attrNameLst>
                                          <p:attrName>style.visibility</p:attrName>
                                        </p:attrNameLst>
                                      </p:cBhvr>
                                      <p:to>
                                        <p:strVal val="visible"/>
                                      </p:to>
                                    </p:set>
                                    <p:animEffect transition="in" filter="fade">
                                      <p:cBhvr>
                                        <p:cTn id="92" dur="500"/>
                                        <p:tgtEl>
                                          <p:spTgt spid="28"/>
                                        </p:tgtEl>
                                      </p:cBhvr>
                                    </p:animEffect>
                                  </p:childTnLst>
                                </p:cTn>
                              </p:par>
                              <p:par>
                                <p:cTn id="93" presetID="10" presetClass="entr" presetSubtype="0" fill="hold" nodeType="with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fade">
                                      <p:cBhvr>
                                        <p:cTn id="9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527923" y="414814"/>
            <a:ext cx="8495824" cy="342662"/>
          </a:xfrm>
          <a:prstGeom prst="rect">
            <a:avLst/>
          </a:prstGeom>
          <a:noFill/>
          <a:ln/>
        </p:spPr>
        <p:txBody>
          <a:bodyPr wrap="none" lIns="0" tIns="0" rIns="0" bIns="0" rtlCol="0" anchor="t"/>
          <a:lstStyle/>
          <a:p>
            <a:pPr marL="0" indent="0" algn="l">
              <a:lnSpc>
                <a:spcPts val="2650"/>
              </a:lnSpc>
              <a:buNone/>
            </a:pPr>
            <a:r>
              <a:rPr lang="en-US" sz="2150" b="1" dirty="0">
                <a:solidFill>
                  <a:srgbClr val="000000"/>
                </a:solidFill>
                <a:latin typeface="Abadi" panose="020B0604020104020204" pitchFamily="34" charset="0"/>
                <a:ea typeface="Montserrat Bold" pitchFamily="34" charset="-122"/>
                <a:cs typeface="Montserrat Bold" pitchFamily="34" charset="-120"/>
              </a:rPr>
              <a:t>Addressing the Challenge: The Need for Seamless Learning</a:t>
            </a:r>
            <a:endParaRPr lang="en-US" sz="2150" dirty="0"/>
          </a:p>
        </p:txBody>
      </p:sp>
      <p:sp>
        <p:nvSpPr>
          <p:cNvPr id="3" name="Text 1"/>
          <p:cNvSpPr/>
          <p:nvPr/>
        </p:nvSpPr>
        <p:spPr>
          <a:xfrm>
            <a:off x="527923" y="1134427"/>
            <a:ext cx="2056924" cy="257175"/>
          </a:xfrm>
          <a:prstGeom prst="rect">
            <a:avLst/>
          </a:prstGeom>
          <a:noFill/>
          <a:ln/>
        </p:spPr>
        <p:txBody>
          <a:bodyPr wrap="none" lIns="0" tIns="0" rIns="0" bIns="0" rtlCol="0" anchor="t"/>
          <a:lstStyle/>
          <a:p>
            <a:pPr marL="0" indent="0" algn="l">
              <a:lnSpc>
                <a:spcPts val="2000"/>
              </a:lnSpc>
              <a:buNone/>
            </a:pPr>
            <a:r>
              <a:rPr lang="en-US" sz="1600" b="1" dirty="0">
                <a:solidFill>
                  <a:srgbClr val="000000"/>
                </a:solidFill>
                <a:latin typeface="Abadi" panose="020B0604020104020204" pitchFamily="34" charset="0"/>
                <a:ea typeface="Montserrat Bold" pitchFamily="34" charset="-122"/>
                <a:cs typeface="Montserrat Bold" pitchFamily="34" charset="-120"/>
              </a:rPr>
              <a:t>The Problem</a:t>
            </a:r>
            <a:endParaRPr lang="en-US" sz="1600" dirty="0"/>
          </a:p>
        </p:txBody>
      </p:sp>
      <p:sp>
        <p:nvSpPr>
          <p:cNvPr id="4" name="Text 2"/>
          <p:cNvSpPr/>
          <p:nvPr/>
        </p:nvSpPr>
        <p:spPr>
          <a:xfrm>
            <a:off x="527923" y="1542336"/>
            <a:ext cx="6603325" cy="678656"/>
          </a:xfrm>
          <a:prstGeom prst="rect">
            <a:avLst/>
          </a:prstGeom>
          <a:noFill/>
          <a:ln/>
        </p:spPr>
        <p:txBody>
          <a:bodyPr wrap="square" lIns="0" tIns="0" rIns="0" bIns="0" rtlCol="0" anchor="t"/>
          <a:lstStyle/>
          <a:p>
            <a:pPr marL="0" indent="0" algn="l">
              <a:lnSpc>
                <a:spcPts val="1750"/>
              </a:lnSpc>
              <a:buNone/>
            </a:pPr>
            <a:r>
              <a:rPr lang="en-US" sz="1150" dirty="0">
                <a:solidFill>
                  <a:srgbClr val="3D3838"/>
                </a:solidFill>
                <a:latin typeface="Source Sans 3" pitchFamily="34" charset="0"/>
                <a:ea typeface="Source Sans 3" pitchFamily="34" charset="-122"/>
                <a:cs typeface="Source Sans 3" pitchFamily="34" charset="-120"/>
              </a:rPr>
              <a:t>Organisations and educational bodies frequently struggle with inefficient tools to manage their unique learning processes. The demand for a system that can seamlessly handle diverse delivery modes — online, offline, and hybrid — is growing.</a:t>
            </a:r>
            <a:endParaRPr lang="en-US" sz="1150" dirty="0"/>
          </a:p>
        </p:txBody>
      </p:sp>
      <p:pic>
        <p:nvPicPr>
          <p:cNvPr id="5" name="Image 0" descr="preencoded.png"/>
          <p:cNvPicPr>
            <a:picLocks noChangeAspect="1"/>
          </p:cNvPicPr>
          <p:nvPr/>
        </p:nvPicPr>
        <p:blipFill>
          <a:blip r:embed="rId3"/>
          <a:stretch>
            <a:fillRect/>
          </a:stretch>
        </p:blipFill>
        <p:spPr>
          <a:xfrm>
            <a:off x="527923" y="2390656"/>
            <a:ext cx="6603325" cy="5504407"/>
          </a:xfrm>
          <a:prstGeom prst="rect">
            <a:avLst/>
          </a:prstGeom>
        </p:spPr>
      </p:pic>
      <p:sp>
        <p:nvSpPr>
          <p:cNvPr id="6" name="Text 3"/>
          <p:cNvSpPr/>
          <p:nvPr/>
        </p:nvSpPr>
        <p:spPr>
          <a:xfrm>
            <a:off x="7506772" y="1134427"/>
            <a:ext cx="2380536" cy="257175"/>
          </a:xfrm>
          <a:prstGeom prst="rect">
            <a:avLst/>
          </a:prstGeom>
          <a:noFill/>
          <a:ln/>
        </p:spPr>
        <p:txBody>
          <a:bodyPr wrap="none" lIns="0" tIns="0" rIns="0" bIns="0" rtlCol="0" anchor="t"/>
          <a:lstStyle/>
          <a:p>
            <a:pPr marL="0" indent="0" algn="l">
              <a:lnSpc>
                <a:spcPts val="2000"/>
              </a:lnSpc>
              <a:buNone/>
            </a:pPr>
            <a:r>
              <a:rPr lang="en-US" sz="1600" b="1" dirty="0">
                <a:solidFill>
                  <a:srgbClr val="000000"/>
                </a:solidFill>
                <a:latin typeface="Abadi" panose="020B0604020104020204" pitchFamily="34" charset="0"/>
                <a:ea typeface="Montserrat Bold" pitchFamily="34" charset="-122"/>
                <a:cs typeface="Montserrat Bold" pitchFamily="34" charset="-120"/>
              </a:rPr>
              <a:t>Our Solution: The LMS</a:t>
            </a:r>
            <a:endParaRPr lang="en-US" sz="1600" dirty="0"/>
          </a:p>
        </p:txBody>
      </p:sp>
      <p:sp>
        <p:nvSpPr>
          <p:cNvPr id="7" name="Text 4"/>
          <p:cNvSpPr/>
          <p:nvPr/>
        </p:nvSpPr>
        <p:spPr>
          <a:xfrm>
            <a:off x="7506772" y="1542336"/>
            <a:ext cx="6603325" cy="678656"/>
          </a:xfrm>
          <a:prstGeom prst="rect">
            <a:avLst/>
          </a:prstGeom>
          <a:noFill/>
          <a:ln/>
        </p:spPr>
        <p:txBody>
          <a:bodyPr wrap="square" lIns="0" tIns="0" rIns="0" bIns="0" rtlCol="0" anchor="t"/>
          <a:lstStyle/>
          <a:p>
            <a:pPr marL="0" indent="0" algn="l">
              <a:lnSpc>
                <a:spcPts val="1750"/>
              </a:lnSpc>
              <a:buNone/>
            </a:pPr>
            <a:r>
              <a:rPr lang="en-US" sz="1150" dirty="0">
                <a:solidFill>
                  <a:srgbClr val="3D3838"/>
                </a:solidFill>
                <a:latin typeface="Source Sans 3" pitchFamily="34" charset="0"/>
                <a:ea typeface="Source Sans 3" pitchFamily="34" charset="-122"/>
                <a:cs typeface="Source Sans 3" pitchFamily="34" charset="-120"/>
              </a:rPr>
              <a:t>Our comprehensive Learning Management System is designed to streamline the entire learning lifecycle. Its core concept is flexible course delivery, supporting online, offline, and hybrid modes with unparalleled ease.</a:t>
            </a:r>
            <a:endParaRPr lang="en-US" sz="1150" dirty="0"/>
          </a:p>
        </p:txBody>
      </p:sp>
      <p:pic>
        <p:nvPicPr>
          <p:cNvPr id="8" name="Image 1" descr="preencoded.png"/>
          <p:cNvPicPr>
            <a:picLocks noChangeAspect="1"/>
          </p:cNvPicPr>
          <p:nvPr/>
        </p:nvPicPr>
        <p:blipFill>
          <a:blip r:embed="rId4"/>
          <a:stretch>
            <a:fillRect/>
          </a:stretch>
        </p:blipFill>
        <p:spPr>
          <a:xfrm>
            <a:off x="7506772" y="2390657"/>
            <a:ext cx="6603325" cy="55044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02362" y="635437"/>
            <a:ext cx="7539276" cy="1042035"/>
          </a:xfrm>
          <a:prstGeom prst="rect">
            <a:avLst/>
          </a:prstGeom>
          <a:noFill/>
          <a:ln/>
        </p:spPr>
        <p:txBody>
          <a:bodyPr wrap="square" lIns="0" tIns="0" rIns="0" bIns="0" rtlCol="0" anchor="t"/>
          <a:lstStyle/>
          <a:p>
            <a:pPr marL="0" indent="0" algn="l">
              <a:lnSpc>
                <a:spcPts val="4100"/>
              </a:lnSpc>
              <a:buNone/>
            </a:pPr>
            <a:r>
              <a:rPr lang="en-US" sz="3250" b="1" dirty="0">
                <a:solidFill>
                  <a:srgbClr val="000000"/>
                </a:solidFill>
                <a:latin typeface="Abadi" panose="020B0604020104020204" pitchFamily="34" charset="0"/>
                <a:ea typeface="Montserrat Bold" pitchFamily="34" charset="-122"/>
                <a:cs typeface="Montserrat Bold" pitchFamily="34" charset="-120"/>
              </a:rPr>
              <a:t>Robust Foundations: System Architecture</a:t>
            </a:r>
            <a:endParaRPr lang="en-US" sz="3250" dirty="0"/>
          </a:p>
        </p:txBody>
      </p:sp>
      <p:sp>
        <p:nvSpPr>
          <p:cNvPr id="4" name="Shape 1"/>
          <p:cNvSpPr/>
          <p:nvPr/>
        </p:nvSpPr>
        <p:spPr>
          <a:xfrm>
            <a:off x="802362" y="2365177"/>
            <a:ext cx="3654981" cy="2671882"/>
          </a:xfrm>
          <a:prstGeom prst="roundRect">
            <a:avLst>
              <a:gd name="adj" fmla="val 5476"/>
            </a:avLst>
          </a:prstGeom>
          <a:solidFill>
            <a:srgbClr val="FFFFFF"/>
          </a:solidFill>
          <a:ln/>
        </p:spPr>
        <p:txBody>
          <a:bodyPr/>
          <a:lstStyle/>
          <a:p>
            <a:endParaRPr lang="en-US"/>
          </a:p>
        </p:txBody>
      </p:sp>
      <p:sp>
        <p:nvSpPr>
          <p:cNvPr id="5" name="Shape 2"/>
          <p:cNvSpPr/>
          <p:nvPr/>
        </p:nvSpPr>
        <p:spPr>
          <a:xfrm>
            <a:off x="802362" y="2334697"/>
            <a:ext cx="3654981" cy="121920"/>
          </a:xfrm>
          <a:prstGeom prst="roundRect">
            <a:avLst>
              <a:gd name="adj" fmla="val 28208"/>
            </a:avLst>
          </a:prstGeom>
          <a:solidFill>
            <a:srgbClr val="2D2E34"/>
          </a:solidFill>
          <a:ln/>
        </p:spPr>
        <p:txBody>
          <a:bodyPr/>
          <a:lstStyle/>
          <a:p>
            <a:endParaRPr lang="en-US"/>
          </a:p>
        </p:txBody>
      </p:sp>
      <p:sp>
        <p:nvSpPr>
          <p:cNvPr id="6" name="Shape 3"/>
          <p:cNvSpPr/>
          <p:nvPr/>
        </p:nvSpPr>
        <p:spPr>
          <a:xfrm>
            <a:off x="2286000" y="2021324"/>
            <a:ext cx="687705" cy="687705"/>
          </a:xfrm>
          <a:prstGeom prst="roundRect">
            <a:avLst>
              <a:gd name="adj" fmla="val 132964"/>
            </a:avLst>
          </a:prstGeom>
          <a:solidFill>
            <a:srgbClr val="2D2E34"/>
          </a:solidFill>
          <a:ln/>
        </p:spPr>
        <p:txBody>
          <a:bodyPr/>
          <a:lstStyle/>
          <a:p>
            <a:endParaRPr lang="en-US"/>
          </a:p>
        </p:txBody>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92335" y="2227659"/>
            <a:ext cx="275034" cy="275034"/>
          </a:xfrm>
          <a:prstGeom prst="rect">
            <a:avLst/>
          </a:prstGeom>
        </p:spPr>
      </p:pic>
      <p:sp>
        <p:nvSpPr>
          <p:cNvPr id="8" name="Text 4"/>
          <p:cNvSpPr/>
          <p:nvPr/>
        </p:nvSpPr>
        <p:spPr>
          <a:xfrm>
            <a:off x="1062038" y="2938343"/>
            <a:ext cx="2605326" cy="325636"/>
          </a:xfrm>
          <a:prstGeom prst="rect">
            <a:avLst/>
          </a:prstGeom>
          <a:noFill/>
          <a:ln/>
        </p:spPr>
        <p:txBody>
          <a:bodyPr wrap="none" lIns="0" tIns="0" rIns="0" bIns="0" rtlCol="0" anchor="t"/>
          <a:lstStyle/>
          <a:p>
            <a:pPr marL="0" indent="0" algn="l">
              <a:lnSpc>
                <a:spcPts val="2550"/>
              </a:lnSpc>
              <a:buNone/>
            </a:pPr>
            <a:r>
              <a:rPr lang="en-US" sz="2050" b="1" dirty="0">
                <a:solidFill>
                  <a:srgbClr val="3D3838"/>
                </a:solidFill>
                <a:latin typeface="Abadi" panose="020B0604020104020204" pitchFamily="34" charset="0"/>
                <a:ea typeface="Montserrat Bold" pitchFamily="34" charset="-122"/>
                <a:cs typeface="Montserrat Bold" pitchFamily="34" charset="-120"/>
              </a:rPr>
              <a:t>Tech Stack</a:t>
            </a:r>
            <a:endParaRPr lang="en-US" sz="2050" dirty="0"/>
          </a:p>
        </p:txBody>
      </p:sp>
      <p:sp>
        <p:nvSpPr>
          <p:cNvPr id="9" name="Text 5"/>
          <p:cNvSpPr/>
          <p:nvPr/>
        </p:nvSpPr>
        <p:spPr>
          <a:xfrm>
            <a:off x="1062038" y="3401497"/>
            <a:ext cx="3135630" cy="1375886"/>
          </a:xfrm>
          <a:prstGeom prst="rect">
            <a:avLst/>
          </a:prstGeom>
          <a:noFill/>
          <a:ln/>
        </p:spPr>
        <p:txBody>
          <a:bodyPr wrap="square" lIns="0" tIns="0" rIns="0" bIns="0" rtlCol="0" anchor="t"/>
          <a:lstStyle/>
          <a:p>
            <a:pPr marL="0" indent="0" algn="l">
              <a:lnSpc>
                <a:spcPts val="2700"/>
              </a:lnSpc>
              <a:buNone/>
            </a:pPr>
            <a:r>
              <a:rPr lang="en-US" sz="1800" dirty="0">
                <a:solidFill>
                  <a:srgbClr val="3D3838"/>
                </a:solidFill>
                <a:latin typeface="Source Sans 3" pitchFamily="34" charset="0"/>
                <a:ea typeface="Source Sans 3" pitchFamily="34" charset="-122"/>
                <a:cs typeface="Source Sans 3" pitchFamily="34" charset="-120"/>
              </a:rPr>
              <a:t>Built with ASP.NET Core 8 (API &amp; MVC), SQL Server, and Entity Framework Core for a powerful and scalable backend.</a:t>
            </a:r>
            <a:endParaRPr lang="en-US" sz="1800" dirty="0"/>
          </a:p>
        </p:txBody>
      </p:sp>
      <p:sp>
        <p:nvSpPr>
          <p:cNvPr id="10" name="Shape 6"/>
          <p:cNvSpPr/>
          <p:nvPr/>
        </p:nvSpPr>
        <p:spPr>
          <a:xfrm>
            <a:off x="4686538" y="2365177"/>
            <a:ext cx="3655100" cy="2671882"/>
          </a:xfrm>
          <a:prstGeom prst="roundRect">
            <a:avLst>
              <a:gd name="adj" fmla="val 5476"/>
            </a:avLst>
          </a:prstGeom>
          <a:solidFill>
            <a:srgbClr val="FFFFFF"/>
          </a:solidFill>
          <a:ln/>
        </p:spPr>
        <p:txBody>
          <a:bodyPr/>
          <a:lstStyle/>
          <a:p>
            <a:endParaRPr lang="en-US"/>
          </a:p>
        </p:txBody>
      </p:sp>
      <p:sp>
        <p:nvSpPr>
          <p:cNvPr id="11" name="Shape 7"/>
          <p:cNvSpPr/>
          <p:nvPr/>
        </p:nvSpPr>
        <p:spPr>
          <a:xfrm>
            <a:off x="4686538" y="2334697"/>
            <a:ext cx="3655100" cy="121920"/>
          </a:xfrm>
          <a:prstGeom prst="roundRect">
            <a:avLst>
              <a:gd name="adj" fmla="val 28208"/>
            </a:avLst>
          </a:prstGeom>
          <a:solidFill>
            <a:srgbClr val="2D2E34"/>
          </a:solidFill>
          <a:ln/>
        </p:spPr>
        <p:txBody>
          <a:bodyPr/>
          <a:lstStyle/>
          <a:p>
            <a:endParaRPr lang="en-US"/>
          </a:p>
        </p:txBody>
      </p:sp>
      <p:sp>
        <p:nvSpPr>
          <p:cNvPr id="12" name="Shape 8"/>
          <p:cNvSpPr/>
          <p:nvPr/>
        </p:nvSpPr>
        <p:spPr>
          <a:xfrm>
            <a:off x="6170176" y="2021324"/>
            <a:ext cx="687705" cy="687705"/>
          </a:xfrm>
          <a:prstGeom prst="roundRect">
            <a:avLst>
              <a:gd name="adj" fmla="val 132964"/>
            </a:avLst>
          </a:prstGeom>
          <a:solidFill>
            <a:srgbClr val="2D2E34"/>
          </a:solidFill>
          <a:ln/>
        </p:spPr>
        <p:txBody>
          <a:bodyPr/>
          <a:lstStyle/>
          <a:p>
            <a:endParaRPr lang="en-US"/>
          </a:p>
        </p:txBody>
      </p:sp>
      <p:pic>
        <p:nvPicPr>
          <p:cNvPr id="13"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76511" y="2227659"/>
            <a:ext cx="275034" cy="275034"/>
          </a:xfrm>
          <a:prstGeom prst="rect">
            <a:avLst/>
          </a:prstGeom>
        </p:spPr>
      </p:pic>
      <p:sp>
        <p:nvSpPr>
          <p:cNvPr id="14" name="Text 9"/>
          <p:cNvSpPr/>
          <p:nvPr/>
        </p:nvSpPr>
        <p:spPr>
          <a:xfrm>
            <a:off x="4946213" y="2938343"/>
            <a:ext cx="2605326" cy="325636"/>
          </a:xfrm>
          <a:prstGeom prst="rect">
            <a:avLst/>
          </a:prstGeom>
          <a:noFill/>
          <a:ln/>
        </p:spPr>
        <p:txBody>
          <a:bodyPr wrap="none" lIns="0" tIns="0" rIns="0" bIns="0" rtlCol="0" anchor="t"/>
          <a:lstStyle/>
          <a:p>
            <a:pPr marL="0" indent="0" algn="l">
              <a:lnSpc>
                <a:spcPts val="2550"/>
              </a:lnSpc>
              <a:buNone/>
            </a:pPr>
            <a:r>
              <a:rPr lang="en-US" sz="2050" b="1" dirty="0">
                <a:solidFill>
                  <a:srgbClr val="3D3838"/>
                </a:solidFill>
                <a:latin typeface="Abadi" panose="020B0604020104020204" pitchFamily="34" charset="0"/>
                <a:ea typeface="Montserrat Bold" pitchFamily="34" charset="-122"/>
                <a:cs typeface="Montserrat Bold" pitchFamily="34" charset="-120"/>
              </a:rPr>
              <a:t>Clean Architecture</a:t>
            </a:r>
            <a:endParaRPr lang="en-US" sz="2050" dirty="0"/>
          </a:p>
        </p:txBody>
      </p:sp>
      <p:sp>
        <p:nvSpPr>
          <p:cNvPr id="15" name="Text 10"/>
          <p:cNvSpPr/>
          <p:nvPr/>
        </p:nvSpPr>
        <p:spPr>
          <a:xfrm>
            <a:off x="4946213" y="3401497"/>
            <a:ext cx="3135749" cy="1375886"/>
          </a:xfrm>
          <a:prstGeom prst="rect">
            <a:avLst/>
          </a:prstGeom>
          <a:noFill/>
          <a:ln/>
        </p:spPr>
        <p:txBody>
          <a:bodyPr wrap="square" lIns="0" tIns="0" rIns="0" bIns="0" rtlCol="0" anchor="t"/>
          <a:lstStyle/>
          <a:p>
            <a:pPr marL="0" indent="0" algn="l">
              <a:lnSpc>
                <a:spcPts val="2700"/>
              </a:lnSpc>
              <a:buNone/>
            </a:pPr>
            <a:r>
              <a:rPr lang="en-US" sz="1800" dirty="0">
                <a:solidFill>
                  <a:srgbClr val="3D3838"/>
                </a:solidFill>
                <a:latin typeface="Source Sans 3" pitchFamily="34" charset="0"/>
                <a:ea typeface="Source Sans 3" pitchFamily="34" charset="-122"/>
                <a:cs typeface="Source Sans 3" pitchFamily="34" charset="-120"/>
              </a:rPr>
              <a:t>Ensures clear separation of business logic, API, and data access, promoting maintainability and scalability.</a:t>
            </a:r>
            <a:endParaRPr lang="en-US" sz="1800" dirty="0"/>
          </a:p>
        </p:txBody>
      </p:sp>
      <p:sp>
        <p:nvSpPr>
          <p:cNvPr id="16" name="Shape 11"/>
          <p:cNvSpPr/>
          <p:nvPr/>
        </p:nvSpPr>
        <p:spPr>
          <a:xfrm>
            <a:off x="802362" y="5610106"/>
            <a:ext cx="7539276" cy="1983938"/>
          </a:xfrm>
          <a:prstGeom prst="roundRect">
            <a:avLst>
              <a:gd name="adj" fmla="val 7374"/>
            </a:avLst>
          </a:prstGeom>
          <a:solidFill>
            <a:srgbClr val="FFFFFF"/>
          </a:solidFill>
          <a:ln/>
        </p:spPr>
        <p:txBody>
          <a:bodyPr/>
          <a:lstStyle/>
          <a:p>
            <a:endParaRPr lang="en-US"/>
          </a:p>
        </p:txBody>
      </p:sp>
      <p:sp>
        <p:nvSpPr>
          <p:cNvPr id="17" name="Shape 12"/>
          <p:cNvSpPr/>
          <p:nvPr/>
        </p:nvSpPr>
        <p:spPr>
          <a:xfrm>
            <a:off x="802362" y="5579626"/>
            <a:ext cx="7539276" cy="121920"/>
          </a:xfrm>
          <a:prstGeom prst="roundRect">
            <a:avLst>
              <a:gd name="adj" fmla="val 28208"/>
            </a:avLst>
          </a:prstGeom>
          <a:solidFill>
            <a:srgbClr val="2D2E34"/>
          </a:solidFill>
          <a:ln/>
        </p:spPr>
        <p:txBody>
          <a:bodyPr/>
          <a:lstStyle/>
          <a:p>
            <a:endParaRPr lang="en-US"/>
          </a:p>
        </p:txBody>
      </p:sp>
      <p:sp>
        <p:nvSpPr>
          <p:cNvPr id="18" name="Shape 13"/>
          <p:cNvSpPr/>
          <p:nvPr/>
        </p:nvSpPr>
        <p:spPr>
          <a:xfrm>
            <a:off x="4228148" y="5266253"/>
            <a:ext cx="687705" cy="687705"/>
          </a:xfrm>
          <a:prstGeom prst="roundRect">
            <a:avLst>
              <a:gd name="adj" fmla="val 132964"/>
            </a:avLst>
          </a:prstGeom>
          <a:solidFill>
            <a:srgbClr val="2D2E34"/>
          </a:solidFill>
          <a:ln/>
        </p:spPr>
        <p:txBody>
          <a:bodyPr/>
          <a:lstStyle/>
          <a:p>
            <a:endParaRPr lang="en-US"/>
          </a:p>
        </p:txBody>
      </p:sp>
      <p:pic>
        <p:nvPicPr>
          <p:cNvPr id="19"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34483" y="5472589"/>
            <a:ext cx="275034" cy="275034"/>
          </a:xfrm>
          <a:prstGeom prst="rect">
            <a:avLst/>
          </a:prstGeom>
        </p:spPr>
      </p:pic>
      <p:sp>
        <p:nvSpPr>
          <p:cNvPr id="20" name="Text 14"/>
          <p:cNvSpPr/>
          <p:nvPr/>
        </p:nvSpPr>
        <p:spPr>
          <a:xfrm>
            <a:off x="1062038" y="6183273"/>
            <a:ext cx="3053239" cy="325636"/>
          </a:xfrm>
          <a:prstGeom prst="rect">
            <a:avLst/>
          </a:prstGeom>
          <a:noFill/>
          <a:ln/>
        </p:spPr>
        <p:txBody>
          <a:bodyPr wrap="none" lIns="0" tIns="0" rIns="0" bIns="0" rtlCol="0" anchor="t"/>
          <a:lstStyle/>
          <a:p>
            <a:pPr marL="0" indent="0" algn="l">
              <a:lnSpc>
                <a:spcPts val="2550"/>
              </a:lnSpc>
              <a:buNone/>
            </a:pPr>
            <a:r>
              <a:rPr lang="en-US" sz="2050" b="1" dirty="0">
                <a:solidFill>
                  <a:srgbClr val="3D3838"/>
                </a:solidFill>
                <a:latin typeface="Abadi" panose="020B0604020104020204" pitchFamily="34" charset="0"/>
                <a:ea typeface="Montserrat Bold" pitchFamily="34" charset="-122"/>
                <a:cs typeface="Montserrat Bold" pitchFamily="34" charset="-120"/>
              </a:rPr>
              <a:t>Hybrid Authentication</a:t>
            </a:r>
            <a:endParaRPr lang="en-US" sz="2050" dirty="0"/>
          </a:p>
        </p:txBody>
      </p:sp>
      <p:sp>
        <p:nvSpPr>
          <p:cNvPr id="21" name="Text 15"/>
          <p:cNvSpPr/>
          <p:nvPr/>
        </p:nvSpPr>
        <p:spPr>
          <a:xfrm>
            <a:off x="1062038" y="6646426"/>
            <a:ext cx="7019925" cy="687943"/>
          </a:xfrm>
          <a:prstGeom prst="rect">
            <a:avLst/>
          </a:prstGeom>
          <a:noFill/>
          <a:ln/>
        </p:spPr>
        <p:txBody>
          <a:bodyPr wrap="square" lIns="0" tIns="0" rIns="0" bIns="0" rtlCol="0" anchor="t"/>
          <a:lstStyle/>
          <a:p>
            <a:pPr marL="0" indent="0" algn="l">
              <a:lnSpc>
                <a:spcPts val="2700"/>
              </a:lnSpc>
              <a:buNone/>
            </a:pPr>
            <a:r>
              <a:rPr lang="en-US" sz="1800" dirty="0">
                <a:solidFill>
                  <a:srgbClr val="3D3838"/>
                </a:solidFill>
                <a:latin typeface="Source Sans 3" pitchFamily="34" charset="0"/>
                <a:ea typeface="Source Sans 3" pitchFamily="34" charset="-122"/>
                <a:cs typeface="Source Sans 3" pitchFamily="34" charset="-120"/>
              </a:rPr>
              <a:t>Secured with Cookies for MVC applications and JWT for API interactions, providing robust user authentication.</a:t>
            </a:r>
            <a:endParaRPr lang="en-US" sz="18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62451"/>
          </a:xfrm>
          <a:prstGeom prst="rect">
            <a:avLst/>
          </a:prstGeom>
        </p:spPr>
      </p:pic>
      <p:sp>
        <p:nvSpPr>
          <p:cNvPr id="3" name="Text 0"/>
          <p:cNvSpPr/>
          <p:nvPr/>
        </p:nvSpPr>
        <p:spPr>
          <a:xfrm>
            <a:off x="689491" y="3004661"/>
            <a:ext cx="7864078" cy="447675"/>
          </a:xfrm>
          <a:prstGeom prst="rect">
            <a:avLst/>
          </a:prstGeom>
          <a:noFill/>
          <a:ln/>
        </p:spPr>
        <p:txBody>
          <a:bodyPr wrap="none" lIns="0" tIns="0" rIns="0" bIns="0" rtlCol="0" anchor="t"/>
          <a:lstStyle/>
          <a:p>
            <a:pPr marL="0" indent="0" algn="l">
              <a:lnSpc>
                <a:spcPts val="3500"/>
              </a:lnSpc>
              <a:buNone/>
            </a:pPr>
            <a:r>
              <a:rPr lang="en-US" sz="2800" b="1" dirty="0">
                <a:solidFill>
                  <a:srgbClr val="000000"/>
                </a:solidFill>
                <a:latin typeface="Abadi" panose="020B0604020104020204" pitchFamily="34" charset="0"/>
                <a:ea typeface="Montserrat Bold" pitchFamily="34" charset="-122"/>
                <a:cs typeface="Montserrat Bold" pitchFamily="34" charset="-120"/>
              </a:rPr>
              <a:t>Intelligent Course &amp; Lecture Management</a:t>
            </a:r>
            <a:endParaRPr lang="en-US" sz="2800" dirty="0"/>
          </a:p>
        </p:txBody>
      </p:sp>
      <p:sp>
        <p:nvSpPr>
          <p:cNvPr id="4" name="Shape 1"/>
          <p:cNvSpPr/>
          <p:nvPr/>
        </p:nvSpPr>
        <p:spPr>
          <a:xfrm>
            <a:off x="689491" y="3747730"/>
            <a:ext cx="787956" cy="1181933"/>
          </a:xfrm>
          <a:prstGeom prst="roundRect">
            <a:avLst>
              <a:gd name="adj" fmla="val 360026"/>
            </a:avLst>
          </a:prstGeom>
          <a:solidFill>
            <a:srgbClr val="F2EEEE"/>
          </a:solidFill>
          <a:ln/>
        </p:spPr>
        <p:txBody>
          <a:bodyPr/>
          <a:lstStyle/>
          <a:p>
            <a:endParaRPr lang="en-US"/>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5712" y="4190881"/>
            <a:ext cx="295394" cy="295394"/>
          </a:xfrm>
          <a:prstGeom prst="rect">
            <a:avLst/>
          </a:prstGeom>
        </p:spPr>
      </p:pic>
      <p:sp>
        <p:nvSpPr>
          <p:cNvPr id="6" name="Text 2"/>
          <p:cNvSpPr/>
          <p:nvPr/>
        </p:nvSpPr>
        <p:spPr>
          <a:xfrm>
            <a:off x="1674376" y="3944660"/>
            <a:ext cx="2538770" cy="279797"/>
          </a:xfrm>
          <a:prstGeom prst="rect">
            <a:avLst/>
          </a:prstGeom>
          <a:noFill/>
          <a:ln/>
        </p:spPr>
        <p:txBody>
          <a:bodyPr wrap="none" lIns="0" tIns="0" rIns="0" bIns="0" rtlCol="0" anchor="t"/>
          <a:lstStyle/>
          <a:p>
            <a:pPr marL="0" indent="0" algn="l">
              <a:lnSpc>
                <a:spcPts val="2200"/>
              </a:lnSpc>
              <a:buNone/>
            </a:pPr>
            <a:r>
              <a:rPr lang="en-US" sz="1750" b="1" dirty="0">
                <a:solidFill>
                  <a:srgbClr val="3D3838"/>
                </a:solidFill>
                <a:latin typeface="Abadi" panose="020B0604020104020204" pitchFamily="34" charset="0"/>
                <a:ea typeface="Montserrat Bold" pitchFamily="34" charset="-122"/>
                <a:cs typeface="Montserrat Bold" pitchFamily="34" charset="-120"/>
              </a:rPr>
              <a:t>Flexible Course Types</a:t>
            </a:r>
            <a:endParaRPr lang="en-US" sz="1750" dirty="0"/>
          </a:p>
        </p:txBody>
      </p:sp>
      <p:sp>
        <p:nvSpPr>
          <p:cNvPr id="7" name="Text 3"/>
          <p:cNvSpPr/>
          <p:nvPr/>
        </p:nvSpPr>
        <p:spPr>
          <a:xfrm>
            <a:off x="1674376" y="4342567"/>
            <a:ext cx="12266533" cy="295513"/>
          </a:xfrm>
          <a:prstGeom prst="rect">
            <a:avLst/>
          </a:prstGeom>
          <a:noFill/>
          <a:ln/>
        </p:spPr>
        <p:txBody>
          <a:bodyPr wrap="none" lIns="0" tIns="0" rIns="0" bIns="0" rtlCol="0" anchor="t"/>
          <a:lstStyle/>
          <a:p>
            <a:pPr marL="0" indent="0" algn="l">
              <a:lnSpc>
                <a:spcPts val="2300"/>
              </a:lnSpc>
              <a:buNone/>
            </a:pPr>
            <a:r>
              <a:rPr lang="en-US" sz="1550" dirty="0">
                <a:solidFill>
                  <a:srgbClr val="3D3838"/>
                </a:solidFill>
                <a:latin typeface="Source Sans 3" pitchFamily="34" charset="0"/>
                <a:ea typeface="Source Sans 3" pitchFamily="34" charset="-122"/>
                <a:cs typeface="Source Sans 3" pitchFamily="34" charset="-120"/>
              </a:rPr>
              <a:t>Our LMS supports online, offline, and hybrid learning models, adapting to diverse educational needs.</a:t>
            </a:r>
            <a:endParaRPr lang="en-US" sz="1550" dirty="0"/>
          </a:p>
        </p:txBody>
      </p:sp>
      <p:sp>
        <p:nvSpPr>
          <p:cNvPr id="8" name="Shape 4"/>
          <p:cNvSpPr/>
          <p:nvPr/>
        </p:nvSpPr>
        <p:spPr>
          <a:xfrm>
            <a:off x="689491" y="5126593"/>
            <a:ext cx="787956" cy="1181933"/>
          </a:xfrm>
          <a:prstGeom prst="roundRect">
            <a:avLst>
              <a:gd name="adj" fmla="val 360026"/>
            </a:avLst>
          </a:prstGeom>
          <a:solidFill>
            <a:srgbClr val="F2EEEE"/>
          </a:solidFill>
          <a:ln/>
        </p:spPr>
        <p:txBody>
          <a:bodyPr/>
          <a:lstStyle/>
          <a:p>
            <a:endParaRPr lang="en-US"/>
          </a:p>
        </p:txBody>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5712" y="5569744"/>
            <a:ext cx="295394" cy="295394"/>
          </a:xfrm>
          <a:prstGeom prst="rect">
            <a:avLst/>
          </a:prstGeom>
        </p:spPr>
      </p:pic>
      <p:sp>
        <p:nvSpPr>
          <p:cNvPr id="10" name="Text 5"/>
          <p:cNvSpPr/>
          <p:nvPr/>
        </p:nvSpPr>
        <p:spPr>
          <a:xfrm>
            <a:off x="1674376" y="5323523"/>
            <a:ext cx="3253145" cy="279797"/>
          </a:xfrm>
          <a:prstGeom prst="rect">
            <a:avLst/>
          </a:prstGeom>
          <a:noFill/>
          <a:ln/>
        </p:spPr>
        <p:txBody>
          <a:bodyPr wrap="none" lIns="0" tIns="0" rIns="0" bIns="0" rtlCol="0" anchor="t"/>
          <a:lstStyle/>
          <a:p>
            <a:pPr marL="0" indent="0" algn="l">
              <a:lnSpc>
                <a:spcPts val="2200"/>
              </a:lnSpc>
              <a:buNone/>
            </a:pPr>
            <a:r>
              <a:rPr lang="en-US" sz="1750" b="1" dirty="0">
                <a:solidFill>
                  <a:srgbClr val="3D3838"/>
                </a:solidFill>
                <a:latin typeface="Abadi" panose="020B0604020104020204" pitchFamily="34" charset="0"/>
                <a:ea typeface="Montserrat Bold" pitchFamily="34" charset="-122"/>
                <a:cs typeface="Montserrat Bold" pitchFamily="34" charset="-120"/>
              </a:rPr>
              <a:t>Automatic Lecture Creation</a:t>
            </a:r>
            <a:endParaRPr lang="en-US" sz="1750" dirty="0"/>
          </a:p>
        </p:txBody>
      </p:sp>
      <p:sp>
        <p:nvSpPr>
          <p:cNvPr id="11" name="Text 6"/>
          <p:cNvSpPr/>
          <p:nvPr/>
        </p:nvSpPr>
        <p:spPr>
          <a:xfrm>
            <a:off x="1674376" y="5721429"/>
            <a:ext cx="12266533" cy="295513"/>
          </a:xfrm>
          <a:prstGeom prst="rect">
            <a:avLst/>
          </a:prstGeom>
          <a:noFill/>
          <a:ln/>
        </p:spPr>
        <p:txBody>
          <a:bodyPr wrap="none" lIns="0" tIns="0" rIns="0" bIns="0" rtlCol="0" anchor="t"/>
          <a:lstStyle/>
          <a:p>
            <a:pPr marL="0" indent="0" algn="l">
              <a:lnSpc>
                <a:spcPts val="2300"/>
              </a:lnSpc>
              <a:buNone/>
            </a:pPr>
            <a:r>
              <a:rPr lang="en-US" sz="1550" dirty="0">
                <a:solidFill>
                  <a:srgbClr val="3D3838"/>
                </a:solidFill>
                <a:latin typeface="Source Sans 3" pitchFamily="34" charset="0"/>
                <a:ea typeface="Source Sans 3" pitchFamily="34" charset="-122"/>
                <a:cs typeface="Source Sans 3" pitchFamily="34" charset="-120"/>
              </a:rPr>
              <a:t>Eliminates the tedious manual creation of numerous lecture entries for instructors.</a:t>
            </a:r>
            <a:endParaRPr lang="en-US" sz="1550" dirty="0"/>
          </a:p>
        </p:txBody>
      </p:sp>
      <p:sp>
        <p:nvSpPr>
          <p:cNvPr id="12" name="Shape 7"/>
          <p:cNvSpPr/>
          <p:nvPr/>
        </p:nvSpPr>
        <p:spPr>
          <a:xfrm>
            <a:off x="689491" y="6505456"/>
            <a:ext cx="787956" cy="1181933"/>
          </a:xfrm>
          <a:prstGeom prst="roundRect">
            <a:avLst>
              <a:gd name="adj" fmla="val 360026"/>
            </a:avLst>
          </a:prstGeom>
          <a:solidFill>
            <a:srgbClr val="F2EEEE"/>
          </a:solidFill>
          <a:ln/>
        </p:spPr>
        <p:txBody>
          <a:bodyPr/>
          <a:lstStyle/>
          <a:p>
            <a:endParaRPr lang="en-US"/>
          </a:p>
        </p:txBody>
      </p:sp>
      <p:pic>
        <p:nvPicPr>
          <p:cNvPr id="13"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5712" y="6948607"/>
            <a:ext cx="295394" cy="295394"/>
          </a:xfrm>
          <a:prstGeom prst="rect">
            <a:avLst/>
          </a:prstGeom>
        </p:spPr>
      </p:pic>
      <p:sp>
        <p:nvSpPr>
          <p:cNvPr id="14" name="Text 8"/>
          <p:cNvSpPr/>
          <p:nvPr/>
        </p:nvSpPr>
        <p:spPr>
          <a:xfrm>
            <a:off x="1674376" y="6702385"/>
            <a:ext cx="2238613" cy="279797"/>
          </a:xfrm>
          <a:prstGeom prst="rect">
            <a:avLst/>
          </a:prstGeom>
          <a:noFill/>
          <a:ln/>
        </p:spPr>
        <p:txBody>
          <a:bodyPr wrap="none" lIns="0" tIns="0" rIns="0" bIns="0" rtlCol="0" anchor="t"/>
          <a:lstStyle/>
          <a:p>
            <a:pPr marL="0" indent="0" algn="l">
              <a:lnSpc>
                <a:spcPts val="2200"/>
              </a:lnSpc>
              <a:buNone/>
            </a:pPr>
            <a:r>
              <a:rPr lang="en-US" sz="1750" b="1" dirty="0">
                <a:solidFill>
                  <a:srgbClr val="3D3838"/>
                </a:solidFill>
                <a:latin typeface="Abadi" panose="020B0604020104020204" pitchFamily="34" charset="0"/>
                <a:ea typeface="Montserrat Bold" pitchFamily="34" charset="-122"/>
                <a:cs typeface="Montserrat Bold" pitchFamily="34" charset="-120"/>
              </a:rPr>
              <a:t>How it Works</a:t>
            </a:r>
            <a:endParaRPr lang="en-US" sz="1750" dirty="0"/>
          </a:p>
        </p:txBody>
      </p:sp>
      <p:sp>
        <p:nvSpPr>
          <p:cNvPr id="15" name="Text 9"/>
          <p:cNvSpPr/>
          <p:nvPr/>
        </p:nvSpPr>
        <p:spPr>
          <a:xfrm>
            <a:off x="1674376" y="7100292"/>
            <a:ext cx="12266533" cy="295513"/>
          </a:xfrm>
          <a:prstGeom prst="rect">
            <a:avLst/>
          </a:prstGeom>
          <a:noFill/>
          <a:ln/>
        </p:spPr>
        <p:txBody>
          <a:bodyPr wrap="none" lIns="0" tIns="0" rIns="0" bIns="0" rtlCol="0" anchor="t"/>
          <a:lstStyle/>
          <a:p>
            <a:pPr marL="0" indent="0" algn="l">
              <a:lnSpc>
                <a:spcPts val="2300"/>
              </a:lnSpc>
              <a:buNone/>
            </a:pPr>
            <a:r>
              <a:rPr lang="en-US" sz="1550" dirty="0">
                <a:solidFill>
                  <a:srgbClr val="3D3838"/>
                </a:solidFill>
                <a:latin typeface="Source Sans 3" pitchFamily="34" charset="0"/>
                <a:ea typeface="Source Sans 3" pitchFamily="34" charset="-122"/>
                <a:cs typeface="Source Sans 3" pitchFamily="34" charset="-120"/>
              </a:rPr>
              <a:t>Instructors define course dates and weekly schedules (e.g., "Mondays at 10 AM"), and the system auto-generates all lecture entries.</a:t>
            </a:r>
            <a:endParaRPr lang="en-US" sz="15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435531" y="342186"/>
            <a:ext cx="4626412" cy="282893"/>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Abadi" panose="020B0604020104020204" pitchFamily="34" charset="0"/>
                <a:ea typeface="Montserrat Bold" pitchFamily="34" charset="-122"/>
                <a:cs typeface="Montserrat Bold" pitchFamily="34" charset="-120"/>
              </a:rPr>
              <a:t>Advanced Assessment Engine: Quizzes</a:t>
            </a:r>
            <a:endParaRPr lang="en-US" sz="1750" dirty="0"/>
          </a:p>
        </p:txBody>
      </p:sp>
      <p:sp>
        <p:nvSpPr>
          <p:cNvPr id="3" name="Text 1"/>
          <p:cNvSpPr/>
          <p:nvPr/>
        </p:nvSpPr>
        <p:spPr>
          <a:xfrm>
            <a:off x="435531" y="923568"/>
            <a:ext cx="8134112" cy="186571"/>
          </a:xfrm>
          <a:prstGeom prst="rect">
            <a:avLst/>
          </a:prstGeom>
          <a:noFill/>
          <a:ln/>
        </p:spPr>
        <p:txBody>
          <a:bodyPr wrap="none" lIns="0" tIns="0" rIns="0" bIns="0" rtlCol="0" anchor="t"/>
          <a:lstStyle/>
          <a:p>
            <a:pPr marL="342900" indent="-342900" algn="l">
              <a:lnSpc>
                <a:spcPts val="1450"/>
              </a:lnSpc>
              <a:buSzPct val="100000"/>
              <a:buChar char="•"/>
            </a:pPr>
            <a:r>
              <a:rPr lang="en-US" sz="1200" b="1" dirty="0">
                <a:solidFill>
                  <a:srgbClr val="3D3838"/>
                </a:solidFill>
                <a:latin typeface="Source Sans 3" pitchFamily="34" charset="0"/>
                <a:ea typeface="Source Sans 3" pitchFamily="34" charset="-122"/>
                <a:cs typeface="Source Sans 3" pitchFamily="34" charset="-120"/>
              </a:rPr>
              <a:t>Quiz Generation:</a:t>
            </a:r>
            <a:r>
              <a:rPr lang="en-US" sz="1200" dirty="0">
                <a:solidFill>
                  <a:srgbClr val="3D3838"/>
                </a:solidFill>
                <a:latin typeface="Source Sans 3" pitchFamily="34" charset="0"/>
                <a:ea typeface="Source Sans 3" pitchFamily="34" charset="-122"/>
                <a:cs typeface="Source Sans 3" pitchFamily="34" charset="-120"/>
              </a:rPr>
              <a:t> Supports diverse question types including True/False, Multiple Choice, and Short Answer.</a:t>
            </a:r>
            <a:endParaRPr lang="en-US" sz="1200" dirty="0"/>
          </a:p>
        </p:txBody>
      </p:sp>
      <p:sp>
        <p:nvSpPr>
          <p:cNvPr id="4" name="Text 2"/>
          <p:cNvSpPr/>
          <p:nvPr/>
        </p:nvSpPr>
        <p:spPr>
          <a:xfrm>
            <a:off x="435531" y="1153597"/>
            <a:ext cx="8134112" cy="186571"/>
          </a:xfrm>
          <a:prstGeom prst="rect">
            <a:avLst/>
          </a:prstGeom>
          <a:noFill/>
          <a:ln/>
        </p:spPr>
        <p:txBody>
          <a:bodyPr wrap="none" lIns="0" tIns="0" rIns="0" bIns="0" rtlCol="0" anchor="t"/>
          <a:lstStyle/>
          <a:p>
            <a:pPr marL="342900" indent="-342900" algn="l">
              <a:lnSpc>
                <a:spcPts val="1450"/>
              </a:lnSpc>
              <a:buSzPct val="100000"/>
              <a:buChar char="•"/>
            </a:pPr>
            <a:r>
              <a:rPr lang="en-US" sz="1200" b="1" dirty="0">
                <a:solidFill>
                  <a:srgbClr val="3D3838"/>
                </a:solidFill>
                <a:latin typeface="Source Sans 3" pitchFamily="34" charset="0"/>
                <a:ea typeface="Source Sans 3" pitchFamily="34" charset="-122"/>
                <a:cs typeface="Source Sans 3" pitchFamily="34" charset="-120"/>
              </a:rPr>
              <a:t>Grading Logic:</a:t>
            </a:r>
            <a:endParaRPr lang="en-US" sz="1200" dirty="0"/>
          </a:p>
        </p:txBody>
      </p:sp>
      <p:sp>
        <p:nvSpPr>
          <p:cNvPr id="5" name="Text 3"/>
          <p:cNvSpPr/>
          <p:nvPr/>
        </p:nvSpPr>
        <p:spPr>
          <a:xfrm>
            <a:off x="435531" y="1383625"/>
            <a:ext cx="8134112" cy="186571"/>
          </a:xfrm>
          <a:prstGeom prst="rect">
            <a:avLst/>
          </a:prstGeom>
          <a:noFill/>
          <a:ln/>
        </p:spPr>
        <p:txBody>
          <a:bodyPr wrap="none" lIns="0" tIns="0" rIns="0" bIns="0" rtlCol="0" anchor="t"/>
          <a:lstStyle/>
          <a:p>
            <a:pPr marL="685800" lvl="1" indent="-342900" algn="l">
              <a:lnSpc>
                <a:spcPts val="1450"/>
              </a:lnSpc>
              <a:buSzPct val="100000"/>
              <a:buChar char="•"/>
            </a:pPr>
            <a:r>
              <a:rPr lang="en-US" sz="1200" b="1" dirty="0">
                <a:solidFill>
                  <a:srgbClr val="3D3838"/>
                </a:solidFill>
                <a:latin typeface="Source Sans 3" pitchFamily="34" charset="0"/>
                <a:ea typeface="Source Sans 3" pitchFamily="34" charset="-122"/>
                <a:cs typeface="Source Sans 3" pitchFamily="34" charset="-120"/>
              </a:rPr>
              <a:t>Automatic Grading:</a:t>
            </a:r>
            <a:r>
              <a:rPr lang="en-US" sz="1200" dirty="0">
                <a:solidFill>
                  <a:srgbClr val="3D3838"/>
                </a:solidFill>
                <a:latin typeface="Source Sans 3" pitchFamily="34" charset="0"/>
                <a:ea typeface="Source Sans 3" pitchFamily="34" charset="-122"/>
                <a:cs typeface="Source Sans 3" pitchFamily="34" charset="-120"/>
              </a:rPr>
              <a:t> Instant evaluation for True/False and MCQ questions.</a:t>
            </a:r>
            <a:endParaRPr lang="en-US" sz="1200" dirty="0"/>
          </a:p>
        </p:txBody>
      </p:sp>
      <p:sp>
        <p:nvSpPr>
          <p:cNvPr id="6" name="Text 4"/>
          <p:cNvSpPr/>
          <p:nvPr/>
        </p:nvSpPr>
        <p:spPr>
          <a:xfrm>
            <a:off x="435531" y="1613654"/>
            <a:ext cx="8134112" cy="186571"/>
          </a:xfrm>
          <a:prstGeom prst="rect">
            <a:avLst/>
          </a:prstGeom>
          <a:noFill/>
          <a:ln/>
        </p:spPr>
        <p:txBody>
          <a:bodyPr wrap="none" lIns="0" tIns="0" rIns="0" bIns="0" rtlCol="0" anchor="t"/>
          <a:lstStyle/>
          <a:p>
            <a:pPr marL="685800" lvl="1" indent="-342900" algn="l">
              <a:lnSpc>
                <a:spcPts val="1450"/>
              </a:lnSpc>
              <a:buSzPct val="100000"/>
              <a:buChar char="•"/>
            </a:pPr>
            <a:r>
              <a:rPr lang="en-US" sz="1200" b="1" dirty="0">
                <a:solidFill>
                  <a:srgbClr val="3D3838"/>
                </a:solidFill>
                <a:latin typeface="Source Sans 3" pitchFamily="34" charset="0"/>
                <a:ea typeface="Source Sans 3" pitchFamily="34" charset="-122"/>
                <a:cs typeface="Source Sans 3" pitchFamily="34" charset="-120"/>
              </a:rPr>
              <a:t>Manual Grading:</a:t>
            </a:r>
            <a:r>
              <a:rPr lang="en-US" sz="1200" dirty="0">
                <a:solidFill>
                  <a:srgbClr val="3D3838"/>
                </a:solidFill>
                <a:latin typeface="Source Sans 3" pitchFamily="34" charset="0"/>
                <a:ea typeface="Source Sans 3" pitchFamily="34" charset="-122"/>
                <a:cs typeface="Source Sans 3" pitchFamily="34" charset="-120"/>
              </a:rPr>
              <a:t> Instructors manually review and grade Short Answer questions for nuanced assessment.</a:t>
            </a:r>
            <a:endParaRPr lang="en-US" sz="1200" dirty="0"/>
          </a:p>
        </p:txBody>
      </p:sp>
      <p:sp>
        <p:nvSpPr>
          <p:cNvPr id="7" name="Text 5"/>
          <p:cNvSpPr/>
          <p:nvPr/>
        </p:nvSpPr>
        <p:spPr>
          <a:xfrm>
            <a:off x="435531" y="1843683"/>
            <a:ext cx="8134112" cy="186571"/>
          </a:xfrm>
          <a:prstGeom prst="rect">
            <a:avLst/>
          </a:prstGeom>
          <a:noFill/>
          <a:ln/>
        </p:spPr>
        <p:txBody>
          <a:bodyPr wrap="none" lIns="0" tIns="0" rIns="0" bIns="0" rtlCol="0" anchor="t"/>
          <a:lstStyle/>
          <a:p>
            <a:pPr marL="342900" indent="-342900" algn="l">
              <a:lnSpc>
                <a:spcPts val="1450"/>
              </a:lnSpc>
              <a:buSzPct val="100000"/>
              <a:buChar char="•"/>
            </a:pPr>
            <a:r>
              <a:rPr lang="en-US" sz="1200" b="1" dirty="0">
                <a:solidFill>
                  <a:srgbClr val="3D3838"/>
                </a:solidFill>
                <a:latin typeface="Source Sans 3" pitchFamily="34" charset="0"/>
                <a:ea typeface="Source Sans 3" pitchFamily="34" charset="-122"/>
                <a:cs typeface="Source Sans 3" pitchFamily="34" charset="-120"/>
              </a:rPr>
              <a:t>Time Validation:</a:t>
            </a:r>
            <a:r>
              <a:rPr lang="en-US" sz="1200" dirty="0">
                <a:solidFill>
                  <a:srgbClr val="3D3838"/>
                </a:solidFill>
                <a:latin typeface="Source Sans 3" pitchFamily="34" charset="0"/>
                <a:ea typeface="Source Sans 3" pitchFamily="34" charset="-122"/>
                <a:cs typeface="Source Sans 3" pitchFamily="34" charset="-120"/>
              </a:rPr>
              <a:t> Server-side checks ensure that all submissions adhere strictly to the allowed time window, preventing late entries.</a:t>
            </a:r>
            <a:endParaRPr lang="en-US" sz="1200" dirty="0"/>
          </a:p>
        </p:txBody>
      </p:sp>
      <p:pic>
        <p:nvPicPr>
          <p:cNvPr id="8" name="Image 0" descr="preencoded.png"/>
          <p:cNvPicPr>
            <a:picLocks noChangeAspect="1"/>
          </p:cNvPicPr>
          <p:nvPr/>
        </p:nvPicPr>
        <p:blipFill>
          <a:blip r:embed="rId3"/>
          <a:stretch>
            <a:fillRect/>
          </a:stretch>
        </p:blipFill>
        <p:spPr>
          <a:xfrm>
            <a:off x="8880872" y="951548"/>
            <a:ext cx="5321498" cy="5321498"/>
          </a:xfrm>
          <a:prstGeom prst="rect">
            <a:avLst/>
          </a:prstGeom>
        </p:spPr>
      </p:pic>
      <p:pic>
        <p:nvPicPr>
          <p:cNvPr id="9" name="Image 1" descr="preencoded.png"/>
          <p:cNvPicPr>
            <a:picLocks noChangeAspect="1"/>
          </p:cNvPicPr>
          <p:nvPr/>
        </p:nvPicPr>
        <p:blipFill>
          <a:blip r:embed="rId4"/>
          <a:stretch>
            <a:fillRect/>
          </a:stretch>
        </p:blipFill>
        <p:spPr>
          <a:xfrm>
            <a:off x="729330" y="2443110"/>
            <a:ext cx="5782981" cy="532149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32803" y="693420"/>
            <a:ext cx="7651194" cy="969407"/>
          </a:xfrm>
          <a:prstGeom prst="rect">
            <a:avLst/>
          </a:prstGeom>
          <a:noFill/>
          <a:ln/>
        </p:spPr>
        <p:txBody>
          <a:bodyPr wrap="square" lIns="0" tIns="0" rIns="0" bIns="0" rtlCol="0" anchor="t"/>
          <a:lstStyle/>
          <a:p>
            <a:pPr marL="0" indent="0" algn="l">
              <a:lnSpc>
                <a:spcPts val="3800"/>
              </a:lnSpc>
              <a:buNone/>
            </a:pPr>
            <a:r>
              <a:rPr lang="en-US" sz="3050" b="1" dirty="0">
                <a:solidFill>
                  <a:srgbClr val="000000"/>
                </a:solidFill>
                <a:latin typeface="Abadi" panose="020B0604020104020204" pitchFamily="34" charset="0"/>
                <a:ea typeface="Montserrat Bold" pitchFamily="34" charset="-122"/>
                <a:cs typeface="Montserrat Bold" pitchFamily="34" charset="-120"/>
              </a:rPr>
              <a:t>Seamless Communication &amp; Notifications</a:t>
            </a:r>
            <a:endParaRPr lang="en-US" sz="3050" dirty="0"/>
          </a:p>
        </p:txBody>
      </p:sp>
      <p:pic>
        <p:nvPicPr>
          <p:cNvPr id="4" name="Image 1" descr="preencoded.png"/>
          <p:cNvPicPr>
            <a:picLocks noChangeAspect="1"/>
          </p:cNvPicPr>
          <p:nvPr/>
        </p:nvPicPr>
        <p:blipFill>
          <a:blip r:embed="rId4"/>
          <a:stretch>
            <a:fillRect/>
          </a:stretch>
        </p:blipFill>
        <p:spPr>
          <a:xfrm>
            <a:off x="6232803" y="1982748"/>
            <a:ext cx="1066443" cy="1279684"/>
          </a:xfrm>
          <a:prstGeom prst="rect">
            <a:avLst/>
          </a:prstGeom>
        </p:spPr>
      </p:pic>
      <p:sp>
        <p:nvSpPr>
          <p:cNvPr id="5" name="Text 1"/>
          <p:cNvSpPr/>
          <p:nvPr/>
        </p:nvSpPr>
        <p:spPr>
          <a:xfrm>
            <a:off x="7512487" y="2195989"/>
            <a:ext cx="2423755" cy="303014"/>
          </a:xfrm>
          <a:prstGeom prst="rect">
            <a:avLst/>
          </a:prstGeom>
          <a:noFill/>
          <a:ln/>
        </p:spPr>
        <p:txBody>
          <a:bodyPr wrap="none" lIns="0" tIns="0" rIns="0" bIns="0" rtlCol="0" anchor="t"/>
          <a:lstStyle/>
          <a:p>
            <a:pPr marL="0" indent="0" algn="l">
              <a:lnSpc>
                <a:spcPts val="2350"/>
              </a:lnSpc>
              <a:buNone/>
            </a:pPr>
            <a:r>
              <a:rPr lang="en-US" sz="1900" b="1" dirty="0">
                <a:solidFill>
                  <a:srgbClr val="3D3838"/>
                </a:solidFill>
                <a:latin typeface="Abadi" panose="020B0604020104020204" pitchFamily="34" charset="0"/>
                <a:ea typeface="Montserrat Bold" pitchFamily="34" charset="-122"/>
                <a:cs typeface="Montserrat Bold" pitchFamily="34" charset="-120"/>
              </a:rPr>
              <a:t>Email Service</a:t>
            </a:r>
            <a:endParaRPr lang="en-US" sz="1900" dirty="0"/>
          </a:p>
        </p:txBody>
      </p:sp>
      <p:sp>
        <p:nvSpPr>
          <p:cNvPr id="6" name="Text 2"/>
          <p:cNvSpPr/>
          <p:nvPr/>
        </p:nvSpPr>
        <p:spPr>
          <a:xfrm>
            <a:off x="7512487" y="2626876"/>
            <a:ext cx="6371511" cy="319802"/>
          </a:xfrm>
          <a:prstGeom prst="rect">
            <a:avLst/>
          </a:prstGeom>
          <a:noFill/>
          <a:ln/>
        </p:spPr>
        <p:txBody>
          <a:bodyPr wrap="none" lIns="0" tIns="0" rIns="0" bIns="0" rtlCol="0" anchor="t"/>
          <a:lstStyle/>
          <a:p>
            <a:pPr marL="0" indent="0" algn="l">
              <a:lnSpc>
                <a:spcPts val="2500"/>
              </a:lnSpc>
              <a:buNone/>
            </a:pPr>
            <a:r>
              <a:rPr lang="en-US" sz="1650" dirty="0">
                <a:solidFill>
                  <a:srgbClr val="3D3838"/>
                </a:solidFill>
                <a:latin typeface="Source Sans 3" pitchFamily="34" charset="0"/>
                <a:ea typeface="Source Sans 3" pitchFamily="34" charset="-122"/>
                <a:cs typeface="Source Sans 3" pitchFamily="34" charset="-120"/>
              </a:rPr>
              <a:t>Automated emails are triggered by key events, keeping users informed.</a:t>
            </a:r>
            <a:endParaRPr lang="en-US" sz="1650" dirty="0"/>
          </a:p>
        </p:txBody>
      </p:sp>
      <p:pic>
        <p:nvPicPr>
          <p:cNvPr id="7" name="Image 2" descr="preencoded.png"/>
          <p:cNvPicPr>
            <a:picLocks noChangeAspect="1"/>
          </p:cNvPicPr>
          <p:nvPr/>
        </p:nvPicPr>
        <p:blipFill>
          <a:blip r:embed="rId5"/>
          <a:stretch>
            <a:fillRect/>
          </a:stretch>
        </p:blipFill>
        <p:spPr>
          <a:xfrm>
            <a:off x="6232803" y="3262432"/>
            <a:ext cx="1066443" cy="1496973"/>
          </a:xfrm>
          <a:prstGeom prst="rect">
            <a:avLst/>
          </a:prstGeom>
        </p:spPr>
      </p:pic>
      <p:sp>
        <p:nvSpPr>
          <p:cNvPr id="8" name="Text 3"/>
          <p:cNvSpPr/>
          <p:nvPr/>
        </p:nvSpPr>
        <p:spPr>
          <a:xfrm>
            <a:off x="7512487" y="3475673"/>
            <a:ext cx="2423755" cy="303014"/>
          </a:xfrm>
          <a:prstGeom prst="rect">
            <a:avLst/>
          </a:prstGeom>
          <a:noFill/>
          <a:ln/>
        </p:spPr>
        <p:txBody>
          <a:bodyPr wrap="none" lIns="0" tIns="0" rIns="0" bIns="0" rtlCol="0" anchor="t"/>
          <a:lstStyle/>
          <a:p>
            <a:pPr marL="0" indent="0" algn="l">
              <a:lnSpc>
                <a:spcPts val="2350"/>
              </a:lnSpc>
              <a:buNone/>
            </a:pPr>
            <a:r>
              <a:rPr lang="en-US" sz="1900" b="1" dirty="0">
                <a:solidFill>
                  <a:srgbClr val="3D3838"/>
                </a:solidFill>
                <a:latin typeface="Abadi" panose="020B0604020104020204" pitchFamily="34" charset="0"/>
                <a:ea typeface="Montserrat Bold" pitchFamily="34" charset="-122"/>
                <a:cs typeface="Montserrat Bold" pitchFamily="34" charset="-120"/>
              </a:rPr>
              <a:t>User Sign-up</a:t>
            </a:r>
            <a:endParaRPr lang="en-US" sz="1900" dirty="0"/>
          </a:p>
        </p:txBody>
      </p:sp>
      <p:sp>
        <p:nvSpPr>
          <p:cNvPr id="9" name="Text 4"/>
          <p:cNvSpPr/>
          <p:nvPr/>
        </p:nvSpPr>
        <p:spPr>
          <a:xfrm>
            <a:off x="7512487" y="3906560"/>
            <a:ext cx="6371511" cy="639604"/>
          </a:xfrm>
          <a:prstGeom prst="rect">
            <a:avLst/>
          </a:prstGeom>
          <a:noFill/>
          <a:ln/>
        </p:spPr>
        <p:txBody>
          <a:bodyPr wrap="square" lIns="0" tIns="0" rIns="0" bIns="0" rtlCol="0" anchor="t"/>
          <a:lstStyle/>
          <a:p>
            <a:pPr marL="0" indent="0" algn="l">
              <a:lnSpc>
                <a:spcPts val="2500"/>
              </a:lnSpc>
              <a:buNone/>
            </a:pPr>
            <a:r>
              <a:rPr lang="en-US" sz="1650" dirty="0">
                <a:solidFill>
                  <a:srgbClr val="3D3838"/>
                </a:solidFill>
                <a:latin typeface="Source Sans 3" pitchFamily="34" charset="0"/>
                <a:ea typeface="Source Sans 3" pitchFamily="34" charset="-122"/>
                <a:cs typeface="Source Sans 3" pitchFamily="34" charset="-120"/>
              </a:rPr>
              <a:t>Welcome and verification emails for new users, ensuring a smooth onboarding.</a:t>
            </a:r>
            <a:endParaRPr lang="en-US" sz="1650" dirty="0"/>
          </a:p>
        </p:txBody>
      </p:sp>
      <p:pic>
        <p:nvPicPr>
          <p:cNvPr id="10" name="Image 3" descr="preencoded.png"/>
          <p:cNvPicPr>
            <a:picLocks noChangeAspect="1"/>
          </p:cNvPicPr>
          <p:nvPr/>
        </p:nvPicPr>
        <p:blipFill>
          <a:blip r:embed="rId6"/>
          <a:stretch>
            <a:fillRect/>
          </a:stretch>
        </p:blipFill>
        <p:spPr>
          <a:xfrm>
            <a:off x="6232803" y="4759404"/>
            <a:ext cx="1066443" cy="1279684"/>
          </a:xfrm>
          <a:prstGeom prst="rect">
            <a:avLst/>
          </a:prstGeom>
        </p:spPr>
      </p:pic>
      <p:sp>
        <p:nvSpPr>
          <p:cNvPr id="11" name="Text 5"/>
          <p:cNvSpPr/>
          <p:nvPr/>
        </p:nvSpPr>
        <p:spPr>
          <a:xfrm>
            <a:off x="7512487" y="4972645"/>
            <a:ext cx="2740343" cy="303014"/>
          </a:xfrm>
          <a:prstGeom prst="rect">
            <a:avLst/>
          </a:prstGeom>
          <a:noFill/>
          <a:ln/>
        </p:spPr>
        <p:txBody>
          <a:bodyPr wrap="none" lIns="0" tIns="0" rIns="0" bIns="0" rtlCol="0" anchor="t"/>
          <a:lstStyle/>
          <a:p>
            <a:pPr marL="0" indent="0" algn="l">
              <a:lnSpc>
                <a:spcPts val="2350"/>
              </a:lnSpc>
              <a:buNone/>
            </a:pPr>
            <a:r>
              <a:rPr lang="en-US" sz="1900" b="1" dirty="0">
                <a:solidFill>
                  <a:srgbClr val="3D3838"/>
                </a:solidFill>
                <a:latin typeface="Abadi" panose="020B0604020104020204" pitchFamily="34" charset="0"/>
                <a:ea typeface="Montserrat Bold" pitchFamily="34" charset="-122"/>
                <a:cs typeface="Montserrat Bold" pitchFamily="34" charset="-120"/>
              </a:rPr>
              <a:t>Assignment Approval</a:t>
            </a:r>
            <a:endParaRPr lang="en-US" sz="1900" dirty="0"/>
          </a:p>
        </p:txBody>
      </p:sp>
      <p:sp>
        <p:nvSpPr>
          <p:cNvPr id="12" name="Text 6"/>
          <p:cNvSpPr/>
          <p:nvPr/>
        </p:nvSpPr>
        <p:spPr>
          <a:xfrm>
            <a:off x="7512487" y="5403533"/>
            <a:ext cx="6371511" cy="319802"/>
          </a:xfrm>
          <a:prstGeom prst="rect">
            <a:avLst/>
          </a:prstGeom>
          <a:noFill/>
          <a:ln/>
        </p:spPr>
        <p:txBody>
          <a:bodyPr wrap="none" lIns="0" tIns="0" rIns="0" bIns="0" rtlCol="0" anchor="t"/>
          <a:lstStyle/>
          <a:p>
            <a:pPr marL="0" indent="0" algn="l">
              <a:lnSpc>
                <a:spcPts val="2500"/>
              </a:lnSpc>
              <a:buNone/>
            </a:pPr>
            <a:r>
              <a:rPr lang="en-US" sz="1650" dirty="0">
                <a:solidFill>
                  <a:srgbClr val="3D3838"/>
                </a:solidFill>
                <a:latin typeface="Source Sans 3" pitchFamily="34" charset="0"/>
                <a:ea typeface="Source Sans 3" pitchFamily="34" charset="-122"/>
                <a:cs typeface="Source Sans 3" pitchFamily="34" charset="-120"/>
              </a:rPr>
              <a:t>Notifications upon assignment approval, providing timely feedback.</a:t>
            </a:r>
            <a:endParaRPr lang="en-US" sz="1650" dirty="0"/>
          </a:p>
        </p:txBody>
      </p:sp>
      <p:pic>
        <p:nvPicPr>
          <p:cNvPr id="13" name="Image 4" descr="preencoded.png"/>
          <p:cNvPicPr>
            <a:picLocks noChangeAspect="1"/>
          </p:cNvPicPr>
          <p:nvPr/>
        </p:nvPicPr>
        <p:blipFill>
          <a:blip r:embed="rId7"/>
          <a:stretch>
            <a:fillRect/>
          </a:stretch>
        </p:blipFill>
        <p:spPr>
          <a:xfrm>
            <a:off x="6232803" y="6039088"/>
            <a:ext cx="1066443" cy="1496973"/>
          </a:xfrm>
          <a:prstGeom prst="rect">
            <a:avLst/>
          </a:prstGeom>
        </p:spPr>
      </p:pic>
      <p:sp>
        <p:nvSpPr>
          <p:cNvPr id="14" name="Text 7"/>
          <p:cNvSpPr/>
          <p:nvPr/>
        </p:nvSpPr>
        <p:spPr>
          <a:xfrm>
            <a:off x="7512487" y="6252329"/>
            <a:ext cx="3204567" cy="303014"/>
          </a:xfrm>
          <a:prstGeom prst="rect">
            <a:avLst/>
          </a:prstGeom>
          <a:noFill/>
          <a:ln/>
        </p:spPr>
        <p:txBody>
          <a:bodyPr wrap="none" lIns="0" tIns="0" rIns="0" bIns="0" rtlCol="0" anchor="t"/>
          <a:lstStyle/>
          <a:p>
            <a:pPr marL="0" indent="0" algn="l">
              <a:lnSpc>
                <a:spcPts val="2350"/>
              </a:lnSpc>
              <a:buNone/>
            </a:pPr>
            <a:r>
              <a:rPr lang="en-US" sz="1900" b="1" dirty="0">
                <a:solidFill>
                  <a:srgbClr val="3D3838"/>
                </a:solidFill>
                <a:latin typeface="Abadi" panose="020B0604020104020204" pitchFamily="34" charset="0"/>
                <a:ea typeface="Montserrat Bold" pitchFamily="34" charset="-122"/>
                <a:cs typeface="Montserrat Bold" pitchFamily="34" charset="-120"/>
              </a:rPr>
              <a:t>Quiz Grading Completion</a:t>
            </a:r>
            <a:endParaRPr lang="en-US" sz="1900" dirty="0"/>
          </a:p>
        </p:txBody>
      </p:sp>
      <p:sp>
        <p:nvSpPr>
          <p:cNvPr id="15" name="Text 8"/>
          <p:cNvSpPr/>
          <p:nvPr/>
        </p:nvSpPr>
        <p:spPr>
          <a:xfrm>
            <a:off x="7512487" y="6683216"/>
            <a:ext cx="6371511" cy="639604"/>
          </a:xfrm>
          <a:prstGeom prst="rect">
            <a:avLst/>
          </a:prstGeom>
          <a:noFill/>
          <a:ln/>
        </p:spPr>
        <p:txBody>
          <a:bodyPr wrap="square" lIns="0" tIns="0" rIns="0" bIns="0" rtlCol="0" anchor="t"/>
          <a:lstStyle/>
          <a:p>
            <a:pPr marL="0" indent="0" algn="l">
              <a:lnSpc>
                <a:spcPts val="2500"/>
              </a:lnSpc>
              <a:buNone/>
            </a:pPr>
            <a:r>
              <a:rPr lang="en-US" sz="1650" dirty="0">
                <a:solidFill>
                  <a:srgbClr val="3D3838"/>
                </a:solidFill>
                <a:latin typeface="Source Sans 3" pitchFamily="34" charset="0"/>
                <a:ea typeface="Source Sans 3" pitchFamily="34" charset="-122"/>
                <a:cs typeface="Source Sans 3" pitchFamily="34" charset="-120"/>
              </a:rPr>
              <a:t>Alerts when quiz grading is complete, so students can view their results promptly.</a:t>
            </a:r>
            <a:endParaRPr lang="en-US" sz="16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ppt_x</p:attrName>
                                        </p:attrNameLst>
                                      </p:cBhvr>
                                      <p:tavLst>
                                        <p:tav tm="0">
                                          <p:val>
                                            <p:strVal val="#ppt_x"/>
                                          </p:val>
                                        </p:tav>
                                        <p:tav tm="100000">
                                          <p:val>
                                            <p:strVal val="#ppt_x"/>
                                          </p:val>
                                        </p:tav>
                                      </p:tavLst>
                                    </p:anim>
                                    <p:anim calcmode="lin" valueType="num">
                                      <p:cBhvr additive="base">
                                        <p:cTn id="5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Text 0"/>
          <p:cNvSpPr/>
          <p:nvPr/>
        </p:nvSpPr>
        <p:spPr>
          <a:xfrm>
            <a:off x="539115" y="423505"/>
            <a:ext cx="7002066" cy="350044"/>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Abadi" panose="020B0604020104020204" pitchFamily="34" charset="0"/>
                <a:ea typeface="Montserrat Bold" pitchFamily="34" charset="-122"/>
                <a:cs typeface="Montserrat Bold" pitchFamily="34" charset="-120"/>
              </a:rPr>
              <a:t>Future Innovations: Expanding LMS Capabilities</a:t>
            </a:r>
            <a:endParaRPr lang="en-US" sz="2200" dirty="0"/>
          </a:p>
        </p:txBody>
      </p:sp>
      <p:pic>
        <p:nvPicPr>
          <p:cNvPr id="3" name="Image 0" descr="preencoded.png"/>
          <p:cNvPicPr>
            <a:picLocks noChangeAspect="1"/>
          </p:cNvPicPr>
          <p:nvPr/>
        </p:nvPicPr>
        <p:blipFill>
          <a:blip r:embed="rId3"/>
          <a:stretch>
            <a:fillRect/>
          </a:stretch>
        </p:blipFill>
        <p:spPr>
          <a:xfrm>
            <a:off x="539115" y="1177766"/>
            <a:ext cx="6588204" cy="4926322"/>
          </a:xfrm>
          <a:prstGeom prst="rect">
            <a:avLst/>
          </a:prstGeom>
        </p:spPr>
      </p:pic>
      <p:sp>
        <p:nvSpPr>
          <p:cNvPr id="4" name="Text 1"/>
          <p:cNvSpPr/>
          <p:nvPr/>
        </p:nvSpPr>
        <p:spPr>
          <a:xfrm>
            <a:off x="539115" y="6341301"/>
            <a:ext cx="2223849" cy="262533"/>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Abadi" panose="020B0604020104020204" pitchFamily="34" charset="0"/>
                <a:ea typeface="Montserrat Bold" pitchFamily="34" charset="-122"/>
                <a:cs typeface="Montserrat Bold" pitchFamily="34" charset="-120"/>
              </a:rPr>
              <a:t>AI-Powered Grading</a:t>
            </a:r>
            <a:endParaRPr lang="en-US" sz="1650" dirty="0"/>
          </a:p>
        </p:txBody>
      </p:sp>
      <p:sp>
        <p:nvSpPr>
          <p:cNvPr id="5" name="Text 2"/>
          <p:cNvSpPr/>
          <p:nvPr/>
        </p:nvSpPr>
        <p:spPr>
          <a:xfrm>
            <a:off x="539115" y="6841047"/>
            <a:ext cx="6588204" cy="693301"/>
          </a:xfrm>
          <a:prstGeom prst="rect">
            <a:avLst/>
          </a:prstGeom>
          <a:noFill/>
          <a:ln/>
        </p:spPr>
        <p:txBody>
          <a:bodyPr wrap="square" lIns="0" tIns="0" rIns="0" bIns="0" rtlCol="0" anchor="t"/>
          <a:lstStyle/>
          <a:p>
            <a:pPr marL="0" indent="0" algn="l">
              <a:lnSpc>
                <a:spcPts val="1800"/>
              </a:lnSpc>
              <a:buNone/>
            </a:pPr>
            <a:r>
              <a:rPr lang="en-US" sz="1200" dirty="0">
                <a:solidFill>
                  <a:srgbClr val="3D3838"/>
                </a:solidFill>
                <a:latin typeface="Source Sans 3" pitchFamily="34" charset="0"/>
                <a:ea typeface="Source Sans 3" pitchFamily="34" charset="-122"/>
                <a:cs typeface="Source Sans 3" pitchFamily="34" charset="-120"/>
              </a:rPr>
              <a:t>Currently, Short Answer questions require manual assessment. Our future plan involves integrating a Large Language Model (LLM) to automatically evaluate and grade short answer responses against model answers, enhancing efficiency and consistency.</a:t>
            </a:r>
            <a:endParaRPr lang="en-US" sz="1200" dirty="0"/>
          </a:p>
        </p:txBody>
      </p:sp>
      <p:pic>
        <p:nvPicPr>
          <p:cNvPr id="6" name="Image 1" descr="preencoded.png"/>
          <p:cNvPicPr>
            <a:picLocks noChangeAspect="1"/>
          </p:cNvPicPr>
          <p:nvPr/>
        </p:nvPicPr>
        <p:blipFill>
          <a:blip r:embed="rId4"/>
          <a:stretch>
            <a:fillRect/>
          </a:stretch>
        </p:blipFill>
        <p:spPr>
          <a:xfrm>
            <a:off x="7510701" y="1177766"/>
            <a:ext cx="6588204" cy="4926322"/>
          </a:xfrm>
          <a:prstGeom prst="rect">
            <a:avLst/>
          </a:prstGeom>
        </p:spPr>
      </p:pic>
      <p:sp>
        <p:nvSpPr>
          <p:cNvPr id="7" name="Text 3"/>
          <p:cNvSpPr/>
          <p:nvPr/>
        </p:nvSpPr>
        <p:spPr>
          <a:xfrm>
            <a:off x="7541181" y="6341301"/>
            <a:ext cx="2100382" cy="262533"/>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Abadi" panose="020B0604020104020204" pitchFamily="34" charset="0"/>
                <a:ea typeface="Montserrat Bold" pitchFamily="34" charset="-122"/>
                <a:cs typeface="Montserrat Bold" pitchFamily="34" charset="-120"/>
              </a:rPr>
              <a:t>Mobile Application</a:t>
            </a:r>
            <a:endParaRPr lang="en-US" sz="1650" dirty="0"/>
          </a:p>
        </p:txBody>
      </p:sp>
      <p:sp>
        <p:nvSpPr>
          <p:cNvPr id="8" name="Text 4"/>
          <p:cNvSpPr/>
          <p:nvPr/>
        </p:nvSpPr>
        <p:spPr>
          <a:xfrm>
            <a:off x="7503081" y="6900227"/>
            <a:ext cx="6588204" cy="462201"/>
          </a:xfrm>
          <a:prstGeom prst="rect">
            <a:avLst/>
          </a:prstGeom>
          <a:noFill/>
          <a:ln/>
        </p:spPr>
        <p:txBody>
          <a:bodyPr wrap="square" lIns="0" tIns="0" rIns="0" bIns="0" rtlCol="0" anchor="t"/>
          <a:lstStyle/>
          <a:p>
            <a:pPr marL="0" indent="0" algn="l">
              <a:lnSpc>
                <a:spcPts val="1800"/>
              </a:lnSpc>
              <a:buNone/>
            </a:pPr>
            <a:r>
              <a:rPr lang="en-US" sz="1200" dirty="0">
                <a:solidFill>
                  <a:srgbClr val="3D3838"/>
                </a:solidFill>
                <a:latin typeface="Source Sans 3" pitchFamily="34" charset="0"/>
                <a:ea typeface="Source Sans 3" pitchFamily="34" charset="-122"/>
                <a:cs typeface="Source Sans 3" pitchFamily="34" charset="-120"/>
              </a:rPr>
              <a:t>To extend accessibility and user convenience, we plan to extend the API to support a native mobile experience, allowing learners to engage with the LMS anytime, anywhere.</a:t>
            </a:r>
            <a:endParaRPr lang="en-US" sz="12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26638" y="571857"/>
            <a:ext cx="8452604" cy="471726"/>
          </a:xfrm>
          <a:prstGeom prst="rect">
            <a:avLst/>
          </a:prstGeom>
          <a:noFill/>
          <a:ln/>
        </p:spPr>
        <p:txBody>
          <a:bodyPr wrap="none" lIns="0" tIns="0" rIns="0" bIns="0" rtlCol="0" anchor="t"/>
          <a:lstStyle/>
          <a:p>
            <a:pPr marL="0" indent="0" algn="l">
              <a:lnSpc>
                <a:spcPts val="3700"/>
              </a:lnSpc>
              <a:buNone/>
            </a:pPr>
            <a:r>
              <a:rPr lang="en-US" sz="2950" b="1" dirty="0">
                <a:solidFill>
                  <a:srgbClr val="000000"/>
                </a:solidFill>
                <a:latin typeface="Abadi" panose="020B0604020104020204" pitchFamily="34" charset="0"/>
                <a:ea typeface="Montserrat Bold" pitchFamily="34" charset="-122"/>
                <a:cs typeface="Montserrat Bold" pitchFamily="34" charset="-120"/>
              </a:rPr>
              <a:t>LMS Project Timeline: Milestones Achieved</a:t>
            </a:r>
            <a:endParaRPr lang="en-US" sz="2950" dirty="0"/>
          </a:p>
        </p:txBody>
      </p:sp>
      <p:sp>
        <p:nvSpPr>
          <p:cNvPr id="3" name="Shape 1"/>
          <p:cNvSpPr/>
          <p:nvPr/>
        </p:nvSpPr>
        <p:spPr>
          <a:xfrm>
            <a:off x="7303770" y="1458754"/>
            <a:ext cx="22860" cy="6198989"/>
          </a:xfrm>
          <a:prstGeom prst="roundRect">
            <a:avLst>
              <a:gd name="adj" fmla="val 136231"/>
            </a:avLst>
          </a:prstGeom>
          <a:solidFill>
            <a:srgbClr val="D8D4D4"/>
          </a:solidFill>
          <a:ln/>
        </p:spPr>
        <p:txBody>
          <a:bodyPr/>
          <a:lstStyle/>
          <a:p>
            <a:endParaRPr lang="en-US"/>
          </a:p>
        </p:txBody>
      </p:sp>
      <p:sp>
        <p:nvSpPr>
          <p:cNvPr id="4" name="Shape 2"/>
          <p:cNvSpPr/>
          <p:nvPr/>
        </p:nvSpPr>
        <p:spPr>
          <a:xfrm>
            <a:off x="6481703" y="1680805"/>
            <a:ext cx="622816" cy="22860"/>
          </a:xfrm>
          <a:prstGeom prst="roundRect">
            <a:avLst>
              <a:gd name="adj" fmla="val 136231"/>
            </a:avLst>
          </a:prstGeom>
          <a:solidFill>
            <a:srgbClr val="D8D4D4"/>
          </a:solidFill>
          <a:ln/>
        </p:spPr>
        <p:txBody>
          <a:bodyPr/>
          <a:lstStyle/>
          <a:p>
            <a:endParaRPr lang="en-US"/>
          </a:p>
        </p:txBody>
      </p:sp>
      <p:sp>
        <p:nvSpPr>
          <p:cNvPr id="5" name="Shape 3"/>
          <p:cNvSpPr/>
          <p:nvPr/>
        </p:nvSpPr>
        <p:spPr>
          <a:xfrm>
            <a:off x="7081659" y="1458754"/>
            <a:ext cx="467082" cy="467082"/>
          </a:xfrm>
          <a:prstGeom prst="roundRect">
            <a:avLst>
              <a:gd name="adj" fmla="val 6667"/>
            </a:avLst>
          </a:prstGeom>
          <a:solidFill>
            <a:srgbClr val="F2EEEE"/>
          </a:solidFill>
          <a:ln/>
        </p:spPr>
        <p:txBody>
          <a:bodyPr/>
          <a:lstStyle/>
          <a:p>
            <a:endParaRPr lang="en-US"/>
          </a:p>
        </p:txBody>
      </p:sp>
      <p:sp>
        <p:nvSpPr>
          <p:cNvPr id="6" name="Text 4"/>
          <p:cNvSpPr/>
          <p:nvPr/>
        </p:nvSpPr>
        <p:spPr>
          <a:xfrm>
            <a:off x="7173635" y="1515308"/>
            <a:ext cx="283012" cy="353854"/>
          </a:xfrm>
          <a:prstGeom prst="rect">
            <a:avLst/>
          </a:prstGeom>
          <a:noFill/>
          <a:ln/>
        </p:spPr>
        <p:txBody>
          <a:bodyPr wrap="none" lIns="0" tIns="0" rIns="0" bIns="0" rtlCol="0" anchor="t"/>
          <a:lstStyle/>
          <a:p>
            <a:pPr marL="0" indent="0" algn="ctr">
              <a:lnSpc>
                <a:spcPts val="2200"/>
              </a:lnSpc>
              <a:buNone/>
            </a:pPr>
            <a:r>
              <a:rPr lang="en-US" sz="2200" b="1" dirty="0">
                <a:solidFill>
                  <a:srgbClr val="3D3838"/>
                </a:solidFill>
                <a:latin typeface="Abadi" panose="020B0604020104020204" pitchFamily="34" charset="0"/>
                <a:ea typeface="Montserrat Bold" pitchFamily="34" charset="-122"/>
                <a:cs typeface="Montserrat Bold" pitchFamily="34" charset="-120"/>
              </a:rPr>
              <a:t>1</a:t>
            </a:r>
            <a:endParaRPr lang="en-US" sz="2200" dirty="0"/>
          </a:p>
        </p:txBody>
      </p:sp>
      <p:sp>
        <p:nvSpPr>
          <p:cNvPr id="7" name="Text 5"/>
          <p:cNvSpPr/>
          <p:nvPr/>
        </p:nvSpPr>
        <p:spPr>
          <a:xfrm>
            <a:off x="3203615" y="1574244"/>
            <a:ext cx="2978110" cy="294918"/>
          </a:xfrm>
          <a:prstGeom prst="rect">
            <a:avLst/>
          </a:prstGeom>
          <a:noFill/>
          <a:ln/>
        </p:spPr>
        <p:txBody>
          <a:bodyPr wrap="none" lIns="0" tIns="0" rIns="0" bIns="0" rtlCol="0" anchor="t"/>
          <a:lstStyle/>
          <a:p>
            <a:pPr marL="0" indent="0" algn="r">
              <a:lnSpc>
                <a:spcPts val="2300"/>
              </a:lnSpc>
              <a:buNone/>
            </a:pPr>
            <a:r>
              <a:rPr lang="en-US" sz="1850" b="1" dirty="0">
                <a:solidFill>
                  <a:srgbClr val="3D3838"/>
                </a:solidFill>
                <a:latin typeface="Abadi" panose="020B0604020104020204" pitchFamily="34" charset="0"/>
                <a:ea typeface="Montserrat Bold" pitchFamily="34" charset="-122"/>
                <a:cs typeface="Montserrat Bold" pitchFamily="34" charset="-120"/>
              </a:rPr>
              <a:t>Initial Concept &amp; Design</a:t>
            </a:r>
            <a:endParaRPr lang="en-US" sz="1850" dirty="0"/>
          </a:p>
        </p:txBody>
      </p:sp>
      <p:sp>
        <p:nvSpPr>
          <p:cNvPr id="8" name="Text 6"/>
          <p:cNvSpPr/>
          <p:nvPr/>
        </p:nvSpPr>
        <p:spPr>
          <a:xfrm>
            <a:off x="1645904" y="1926293"/>
            <a:ext cx="4609357" cy="929997"/>
          </a:xfrm>
          <a:prstGeom prst="rect">
            <a:avLst/>
          </a:prstGeom>
          <a:noFill/>
          <a:ln/>
        </p:spPr>
        <p:txBody>
          <a:bodyPr wrap="none" lIns="0" tIns="0" rIns="0" bIns="0" rtlCol="0" anchor="t"/>
          <a:lstStyle/>
          <a:p>
            <a:pPr marL="0" indent="0" algn="r">
              <a:lnSpc>
                <a:spcPts val="2450"/>
              </a:lnSpc>
              <a:buNone/>
            </a:pPr>
            <a:r>
              <a:rPr lang="en-US" sz="1600" dirty="0">
                <a:solidFill>
                  <a:srgbClr val="3D3838"/>
                </a:solidFill>
                <a:latin typeface="Source Sans 3" pitchFamily="34" charset="0"/>
                <a:ea typeface="Source Sans 3" pitchFamily="34" charset="-122"/>
                <a:cs typeface="Source Sans 3" pitchFamily="34" charset="-120"/>
              </a:rPr>
              <a:t>Defined core functionalities and architectural blueprint.</a:t>
            </a:r>
            <a:endParaRPr lang="ar-SA" sz="1600" dirty="0">
              <a:solidFill>
                <a:srgbClr val="3D3838"/>
              </a:solidFill>
              <a:latin typeface="Source Sans 3" pitchFamily="34" charset="0"/>
              <a:ea typeface="Source Sans 3" pitchFamily="34" charset="-122"/>
              <a:cs typeface="Source Sans 3" pitchFamily="34" charset="-120"/>
            </a:endParaRPr>
          </a:p>
          <a:p>
            <a:pPr marL="0" indent="0" algn="r">
              <a:lnSpc>
                <a:spcPts val="2450"/>
              </a:lnSpc>
              <a:buNone/>
            </a:pPr>
            <a:r>
              <a:rPr lang="en-US" sz="1600" dirty="0">
                <a:solidFill>
                  <a:srgbClr val="3D3838"/>
                </a:solidFill>
                <a:latin typeface="Source Sans 3" pitchFamily="34" charset="0"/>
              </a:rPr>
              <a:t>Building software Documentation using SLR template</a:t>
            </a:r>
            <a:endParaRPr lang="en-US" sz="1600" dirty="0"/>
          </a:p>
        </p:txBody>
      </p:sp>
      <p:sp>
        <p:nvSpPr>
          <p:cNvPr id="9" name="Shape 7"/>
          <p:cNvSpPr/>
          <p:nvPr/>
        </p:nvSpPr>
        <p:spPr>
          <a:xfrm>
            <a:off x="7525881" y="2926437"/>
            <a:ext cx="622816" cy="22860"/>
          </a:xfrm>
          <a:prstGeom prst="roundRect">
            <a:avLst>
              <a:gd name="adj" fmla="val 136231"/>
            </a:avLst>
          </a:prstGeom>
          <a:solidFill>
            <a:srgbClr val="D8D4D4"/>
          </a:solidFill>
          <a:ln/>
        </p:spPr>
        <p:txBody>
          <a:bodyPr/>
          <a:lstStyle/>
          <a:p>
            <a:endParaRPr lang="en-US"/>
          </a:p>
        </p:txBody>
      </p:sp>
      <p:sp>
        <p:nvSpPr>
          <p:cNvPr id="10" name="Shape 8"/>
          <p:cNvSpPr/>
          <p:nvPr/>
        </p:nvSpPr>
        <p:spPr>
          <a:xfrm>
            <a:off x="7081659" y="2704386"/>
            <a:ext cx="467082" cy="467082"/>
          </a:xfrm>
          <a:prstGeom prst="roundRect">
            <a:avLst>
              <a:gd name="adj" fmla="val 6667"/>
            </a:avLst>
          </a:prstGeom>
          <a:solidFill>
            <a:srgbClr val="F2EEEE"/>
          </a:solidFill>
          <a:ln/>
        </p:spPr>
        <p:txBody>
          <a:bodyPr/>
          <a:lstStyle/>
          <a:p>
            <a:endParaRPr lang="en-US"/>
          </a:p>
        </p:txBody>
      </p:sp>
      <p:sp>
        <p:nvSpPr>
          <p:cNvPr id="11" name="Text 9"/>
          <p:cNvSpPr/>
          <p:nvPr/>
        </p:nvSpPr>
        <p:spPr>
          <a:xfrm>
            <a:off x="7173635" y="2760940"/>
            <a:ext cx="283012" cy="353854"/>
          </a:xfrm>
          <a:prstGeom prst="rect">
            <a:avLst/>
          </a:prstGeom>
          <a:noFill/>
          <a:ln/>
        </p:spPr>
        <p:txBody>
          <a:bodyPr wrap="none" lIns="0" tIns="0" rIns="0" bIns="0" rtlCol="0" anchor="t"/>
          <a:lstStyle/>
          <a:p>
            <a:pPr marL="0" indent="0" algn="ctr">
              <a:lnSpc>
                <a:spcPts val="2200"/>
              </a:lnSpc>
              <a:buNone/>
            </a:pPr>
            <a:r>
              <a:rPr lang="en-US" sz="2200" b="1" dirty="0">
                <a:solidFill>
                  <a:srgbClr val="3D3838"/>
                </a:solidFill>
                <a:latin typeface="Abadi" panose="020B0604020104020204" pitchFamily="34" charset="0"/>
                <a:ea typeface="Montserrat Bold" pitchFamily="34" charset="-122"/>
                <a:cs typeface="Montserrat Bold" pitchFamily="34" charset="-120"/>
              </a:rPr>
              <a:t>2</a:t>
            </a:r>
            <a:endParaRPr lang="en-US" sz="2200" dirty="0"/>
          </a:p>
        </p:txBody>
      </p:sp>
      <p:sp>
        <p:nvSpPr>
          <p:cNvPr id="12" name="Text 10"/>
          <p:cNvSpPr/>
          <p:nvPr/>
        </p:nvSpPr>
        <p:spPr>
          <a:xfrm>
            <a:off x="8353187" y="2775704"/>
            <a:ext cx="3136583" cy="294918"/>
          </a:xfrm>
          <a:prstGeom prst="rect">
            <a:avLst/>
          </a:prstGeom>
          <a:noFill/>
          <a:ln/>
        </p:spPr>
        <p:txBody>
          <a:bodyPr wrap="none" lIns="0" tIns="0" rIns="0" bIns="0" rtlCol="0" anchor="t"/>
          <a:lstStyle/>
          <a:p>
            <a:pPr marL="0" indent="0" algn="l">
              <a:lnSpc>
                <a:spcPts val="2300"/>
              </a:lnSpc>
              <a:buNone/>
            </a:pPr>
            <a:r>
              <a:rPr lang="en-US" sz="1850" b="1" dirty="0">
                <a:solidFill>
                  <a:srgbClr val="3D3838"/>
                </a:solidFill>
                <a:latin typeface="Abadi" panose="020B0604020104020204" pitchFamily="34" charset="0"/>
                <a:ea typeface="Montserrat Bold" pitchFamily="34" charset="-122"/>
                <a:cs typeface="Montserrat Bold" pitchFamily="34" charset="-120"/>
              </a:rPr>
              <a:t>Core Development Phase</a:t>
            </a:r>
            <a:endParaRPr lang="en-US" sz="1850" dirty="0"/>
          </a:p>
        </p:txBody>
      </p:sp>
      <p:sp>
        <p:nvSpPr>
          <p:cNvPr id="13" name="Text 11"/>
          <p:cNvSpPr/>
          <p:nvPr/>
        </p:nvSpPr>
        <p:spPr>
          <a:xfrm>
            <a:off x="8353187" y="3195161"/>
            <a:ext cx="5550575" cy="622935"/>
          </a:xfrm>
          <a:prstGeom prst="rect">
            <a:avLst/>
          </a:prstGeom>
          <a:noFill/>
          <a:ln/>
        </p:spPr>
        <p:txBody>
          <a:bodyPr wrap="square" lIns="0" tIns="0" rIns="0" bIns="0" rtlCol="0" anchor="t"/>
          <a:lstStyle/>
          <a:p>
            <a:pPr marL="0" indent="0" algn="l">
              <a:lnSpc>
                <a:spcPts val="2450"/>
              </a:lnSpc>
              <a:buNone/>
            </a:pPr>
            <a:r>
              <a:rPr lang="en-US" sz="1600" dirty="0">
                <a:solidFill>
                  <a:srgbClr val="3D3838"/>
                </a:solidFill>
                <a:latin typeface="Source Sans 3" pitchFamily="34" charset="0"/>
                <a:ea typeface="Source Sans 3" pitchFamily="34" charset="-122"/>
                <a:cs typeface="Source Sans 3" pitchFamily="34" charset="-120"/>
              </a:rPr>
              <a:t>Implementation of Course, Lecture, and Quiz Management modules.</a:t>
            </a:r>
            <a:endParaRPr lang="en-US" sz="1600" dirty="0"/>
          </a:p>
        </p:txBody>
      </p:sp>
      <p:sp>
        <p:nvSpPr>
          <p:cNvPr id="14" name="Shape 12"/>
          <p:cNvSpPr/>
          <p:nvPr/>
        </p:nvSpPr>
        <p:spPr>
          <a:xfrm>
            <a:off x="6481703" y="4000143"/>
            <a:ext cx="622816" cy="22860"/>
          </a:xfrm>
          <a:prstGeom prst="roundRect">
            <a:avLst>
              <a:gd name="adj" fmla="val 136231"/>
            </a:avLst>
          </a:prstGeom>
          <a:solidFill>
            <a:srgbClr val="D8D4D4"/>
          </a:solidFill>
          <a:ln/>
        </p:spPr>
        <p:txBody>
          <a:bodyPr/>
          <a:lstStyle/>
          <a:p>
            <a:endParaRPr lang="en-US"/>
          </a:p>
        </p:txBody>
      </p:sp>
      <p:sp>
        <p:nvSpPr>
          <p:cNvPr id="15" name="Shape 13"/>
          <p:cNvSpPr/>
          <p:nvPr/>
        </p:nvSpPr>
        <p:spPr>
          <a:xfrm>
            <a:off x="7081659" y="3778091"/>
            <a:ext cx="467082" cy="467082"/>
          </a:xfrm>
          <a:prstGeom prst="roundRect">
            <a:avLst>
              <a:gd name="adj" fmla="val 6667"/>
            </a:avLst>
          </a:prstGeom>
          <a:solidFill>
            <a:srgbClr val="F2EEEE"/>
          </a:solidFill>
          <a:ln/>
        </p:spPr>
        <p:txBody>
          <a:bodyPr/>
          <a:lstStyle/>
          <a:p>
            <a:endParaRPr lang="en-US"/>
          </a:p>
        </p:txBody>
      </p:sp>
      <p:sp>
        <p:nvSpPr>
          <p:cNvPr id="16" name="Text 14"/>
          <p:cNvSpPr/>
          <p:nvPr/>
        </p:nvSpPr>
        <p:spPr>
          <a:xfrm>
            <a:off x="7173635" y="3834646"/>
            <a:ext cx="283012" cy="353854"/>
          </a:xfrm>
          <a:prstGeom prst="rect">
            <a:avLst/>
          </a:prstGeom>
          <a:noFill/>
          <a:ln/>
        </p:spPr>
        <p:txBody>
          <a:bodyPr wrap="none" lIns="0" tIns="0" rIns="0" bIns="0" rtlCol="0" anchor="t"/>
          <a:lstStyle/>
          <a:p>
            <a:pPr marL="0" indent="0" algn="ctr">
              <a:lnSpc>
                <a:spcPts val="2200"/>
              </a:lnSpc>
              <a:buNone/>
            </a:pPr>
            <a:r>
              <a:rPr lang="en-US" sz="2200" b="1" dirty="0">
                <a:solidFill>
                  <a:srgbClr val="3D3838"/>
                </a:solidFill>
                <a:latin typeface="Abadi" panose="020B0604020104020204" pitchFamily="34" charset="0"/>
                <a:ea typeface="Montserrat Bold" pitchFamily="34" charset="-122"/>
                <a:cs typeface="Montserrat Bold" pitchFamily="34" charset="-120"/>
              </a:rPr>
              <a:t>3</a:t>
            </a:r>
            <a:endParaRPr lang="en-US" sz="2200" dirty="0"/>
          </a:p>
        </p:txBody>
      </p:sp>
      <p:sp>
        <p:nvSpPr>
          <p:cNvPr id="17" name="Text 15"/>
          <p:cNvSpPr/>
          <p:nvPr/>
        </p:nvSpPr>
        <p:spPr>
          <a:xfrm>
            <a:off x="1912263" y="3849410"/>
            <a:ext cx="4364950" cy="294918"/>
          </a:xfrm>
          <a:prstGeom prst="rect">
            <a:avLst/>
          </a:prstGeom>
          <a:noFill/>
          <a:ln/>
        </p:spPr>
        <p:txBody>
          <a:bodyPr wrap="none" lIns="0" tIns="0" rIns="0" bIns="0" rtlCol="0" anchor="t"/>
          <a:lstStyle/>
          <a:p>
            <a:pPr marL="0" indent="0" algn="r">
              <a:lnSpc>
                <a:spcPts val="2300"/>
              </a:lnSpc>
              <a:buNone/>
            </a:pPr>
            <a:r>
              <a:rPr lang="en-US" sz="1850" b="1" dirty="0">
                <a:solidFill>
                  <a:srgbClr val="3D3838"/>
                </a:solidFill>
                <a:latin typeface="Abadi" panose="020B0604020104020204" pitchFamily="34" charset="0"/>
                <a:ea typeface="Montserrat Bold" pitchFamily="34" charset="-122"/>
                <a:cs typeface="Montserrat Bold" pitchFamily="34" charset="-120"/>
              </a:rPr>
              <a:t>Assessment Engine Enhancements</a:t>
            </a:r>
            <a:endParaRPr lang="en-US" sz="1850" dirty="0"/>
          </a:p>
        </p:txBody>
      </p:sp>
      <p:sp>
        <p:nvSpPr>
          <p:cNvPr id="18" name="Text 16"/>
          <p:cNvSpPr/>
          <p:nvPr/>
        </p:nvSpPr>
        <p:spPr>
          <a:xfrm>
            <a:off x="726638" y="4268867"/>
            <a:ext cx="5550575" cy="311468"/>
          </a:xfrm>
          <a:prstGeom prst="rect">
            <a:avLst/>
          </a:prstGeom>
          <a:noFill/>
          <a:ln/>
        </p:spPr>
        <p:txBody>
          <a:bodyPr wrap="none" lIns="0" tIns="0" rIns="0" bIns="0" rtlCol="0" anchor="t"/>
          <a:lstStyle/>
          <a:p>
            <a:pPr marL="0" indent="0" algn="r">
              <a:lnSpc>
                <a:spcPts val="2450"/>
              </a:lnSpc>
              <a:buNone/>
            </a:pPr>
            <a:r>
              <a:rPr lang="en-US" sz="1600" dirty="0">
                <a:solidFill>
                  <a:srgbClr val="3D3838"/>
                </a:solidFill>
                <a:latin typeface="Source Sans 3" pitchFamily="34" charset="0"/>
                <a:ea typeface="Source Sans 3" pitchFamily="34" charset="-122"/>
                <a:cs typeface="Source Sans 3" pitchFamily="34" charset="-120"/>
              </a:rPr>
              <a:t>Integration of advanced grading logic and time validation.</a:t>
            </a:r>
            <a:endParaRPr lang="en-US" sz="1600" dirty="0"/>
          </a:p>
        </p:txBody>
      </p:sp>
      <p:sp>
        <p:nvSpPr>
          <p:cNvPr id="19" name="Shape 17"/>
          <p:cNvSpPr/>
          <p:nvPr/>
        </p:nvSpPr>
        <p:spPr>
          <a:xfrm>
            <a:off x="7525881" y="5073848"/>
            <a:ext cx="622816" cy="22860"/>
          </a:xfrm>
          <a:prstGeom prst="roundRect">
            <a:avLst>
              <a:gd name="adj" fmla="val 136231"/>
            </a:avLst>
          </a:prstGeom>
          <a:solidFill>
            <a:srgbClr val="D8D4D4"/>
          </a:solidFill>
          <a:ln/>
        </p:spPr>
        <p:txBody>
          <a:bodyPr/>
          <a:lstStyle/>
          <a:p>
            <a:endParaRPr lang="en-US"/>
          </a:p>
        </p:txBody>
      </p:sp>
      <p:sp>
        <p:nvSpPr>
          <p:cNvPr id="20" name="Shape 18"/>
          <p:cNvSpPr/>
          <p:nvPr/>
        </p:nvSpPr>
        <p:spPr>
          <a:xfrm>
            <a:off x="7081659" y="4851797"/>
            <a:ext cx="467082" cy="467082"/>
          </a:xfrm>
          <a:prstGeom prst="roundRect">
            <a:avLst>
              <a:gd name="adj" fmla="val 6667"/>
            </a:avLst>
          </a:prstGeom>
          <a:solidFill>
            <a:srgbClr val="F2EEEE"/>
          </a:solidFill>
          <a:ln/>
        </p:spPr>
        <p:txBody>
          <a:bodyPr/>
          <a:lstStyle/>
          <a:p>
            <a:endParaRPr lang="en-US"/>
          </a:p>
        </p:txBody>
      </p:sp>
      <p:sp>
        <p:nvSpPr>
          <p:cNvPr id="21" name="Text 19"/>
          <p:cNvSpPr/>
          <p:nvPr/>
        </p:nvSpPr>
        <p:spPr>
          <a:xfrm>
            <a:off x="7173635" y="4908352"/>
            <a:ext cx="283012" cy="353854"/>
          </a:xfrm>
          <a:prstGeom prst="rect">
            <a:avLst/>
          </a:prstGeom>
          <a:noFill/>
          <a:ln/>
        </p:spPr>
        <p:txBody>
          <a:bodyPr wrap="none" lIns="0" tIns="0" rIns="0" bIns="0" rtlCol="0" anchor="t"/>
          <a:lstStyle/>
          <a:p>
            <a:pPr marL="0" indent="0" algn="ctr">
              <a:lnSpc>
                <a:spcPts val="2200"/>
              </a:lnSpc>
              <a:buNone/>
            </a:pPr>
            <a:r>
              <a:rPr lang="en-US" sz="2200" b="1" dirty="0">
                <a:solidFill>
                  <a:srgbClr val="3D3838"/>
                </a:solidFill>
                <a:latin typeface="Abadi" panose="020B0604020104020204" pitchFamily="34" charset="0"/>
                <a:ea typeface="Montserrat Bold" pitchFamily="34" charset="-122"/>
                <a:cs typeface="Montserrat Bold" pitchFamily="34" charset="-120"/>
              </a:rPr>
              <a:t>4</a:t>
            </a:r>
            <a:endParaRPr lang="en-US" sz="2200" dirty="0"/>
          </a:p>
        </p:txBody>
      </p:sp>
      <p:sp>
        <p:nvSpPr>
          <p:cNvPr id="22" name="Text 20"/>
          <p:cNvSpPr/>
          <p:nvPr/>
        </p:nvSpPr>
        <p:spPr>
          <a:xfrm>
            <a:off x="8353187" y="4923115"/>
            <a:ext cx="3130868" cy="294918"/>
          </a:xfrm>
          <a:prstGeom prst="rect">
            <a:avLst/>
          </a:prstGeom>
          <a:noFill/>
          <a:ln/>
        </p:spPr>
        <p:txBody>
          <a:bodyPr wrap="none" lIns="0" tIns="0" rIns="0" bIns="0" rtlCol="0" anchor="t"/>
          <a:lstStyle/>
          <a:p>
            <a:pPr marL="0" indent="0" algn="l">
              <a:lnSpc>
                <a:spcPts val="2300"/>
              </a:lnSpc>
              <a:buNone/>
            </a:pPr>
            <a:r>
              <a:rPr lang="en-US" sz="1850" b="1" dirty="0">
                <a:solidFill>
                  <a:srgbClr val="3D3838"/>
                </a:solidFill>
                <a:latin typeface="Abadi" panose="020B0604020104020204" pitchFamily="34" charset="0"/>
                <a:ea typeface="Montserrat Bold" pitchFamily="34" charset="-122"/>
                <a:cs typeface="Montserrat Bold" pitchFamily="34" charset="-120"/>
              </a:rPr>
              <a:t>Communication Features</a:t>
            </a:r>
            <a:endParaRPr lang="en-US" sz="1850" dirty="0"/>
          </a:p>
        </p:txBody>
      </p:sp>
      <p:sp>
        <p:nvSpPr>
          <p:cNvPr id="23" name="Text 21"/>
          <p:cNvSpPr/>
          <p:nvPr/>
        </p:nvSpPr>
        <p:spPr>
          <a:xfrm>
            <a:off x="8353187" y="5342573"/>
            <a:ext cx="5550575" cy="622935"/>
          </a:xfrm>
          <a:prstGeom prst="rect">
            <a:avLst/>
          </a:prstGeom>
          <a:noFill/>
          <a:ln/>
        </p:spPr>
        <p:txBody>
          <a:bodyPr wrap="square" lIns="0" tIns="0" rIns="0" bIns="0" rtlCol="0" anchor="t"/>
          <a:lstStyle/>
          <a:p>
            <a:pPr marL="0" indent="0" algn="l">
              <a:lnSpc>
                <a:spcPts val="2450"/>
              </a:lnSpc>
              <a:buNone/>
            </a:pPr>
            <a:r>
              <a:rPr lang="en-US" sz="1600" dirty="0">
                <a:solidFill>
                  <a:srgbClr val="3D3838"/>
                </a:solidFill>
                <a:latin typeface="Source Sans 3" pitchFamily="34" charset="0"/>
                <a:ea typeface="Source Sans 3" pitchFamily="34" charset="-122"/>
                <a:cs typeface="Source Sans 3" pitchFamily="34" charset="-120"/>
              </a:rPr>
              <a:t>Development and deployment of automated email notifications.</a:t>
            </a:r>
            <a:endParaRPr lang="en-US" sz="1600" dirty="0"/>
          </a:p>
        </p:txBody>
      </p:sp>
      <p:sp>
        <p:nvSpPr>
          <p:cNvPr id="24" name="Shape 22"/>
          <p:cNvSpPr/>
          <p:nvPr/>
        </p:nvSpPr>
        <p:spPr>
          <a:xfrm>
            <a:off x="6481703" y="6147554"/>
            <a:ext cx="622816" cy="22860"/>
          </a:xfrm>
          <a:prstGeom prst="roundRect">
            <a:avLst>
              <a:gd name="adj" fmla="val 136231"/>
            </a:avLst>
          </a:prstGeom>
          <a:solidFill>
            <a:srgbClr val="D8D4D4"/>
          </a:solidFill>
          <a:ln/>
        </p:spPr>
        <p:txBody>
          <a:bodyPr/>
          <a:lstStyle/>
          <a:p>
            <a:endParaRPr lang="en-US"/>
          </a:p>
        </p:txBody>
      </p:sp>
      <p:sp>
        <p:nvSpPr>
          <p:cNvPr id="25" name="Shape 23"/>
          <p:cNvSpPr/>
          <p:nvPr/>
        </p:nvSpPr>
        <p:spPr>
          <a:xfrm>
            <a:off x="7081659" y="5925502"/>
            <a:ext cx="467082" cy="467082"/>
          </a:xfrm>
          <a:prstGeom prst="roundRect">
            <a:avLst>
              <a:gd name="adj" fmla="val 6667"/>
            </a:avLst>
          </a:prstGeom>
          <a:solidFill>
            <a:srgbClr val="F2EEEE"/>
          </a:solidFill>
          <a:ln/>
        </p:spPr>
        <p:txBody>
          <a:bodyPr/>
          <a:lstStyle/>
          <a:p>
            <a:endParaRPr lang="en-US"/>
          </a:p>
        </p:txBody>
      </p:sp>
      <p:sp>
        <p:nvSpPr>
          <p:cNvPr id="26" name="Text 24"/>
          <p:cNvSpPr/>
          <p:nvPr/>
        </p:nvSpPr>
        <p:spPr>
          <a:xfrm>
            <a:off x="7173635" y="5982057"/>
            <a:ext cx="283012" cy="353854"/>
          </a:xfrm>
          <a:prstGeom prst="rect">
            <a:avLst/>
          </a:prstGeom>
          <a:noFill/>
          <a:ln/>
        </p:spPr>
        <p:txBody>
          <a:bodyPr wrap="none" lIns="0" tIns="0" rIns="0" bIns="0" rtlCol="0" anchor="t"/>
          <a:lstStyle/>
          <a:p>
            <a:pPr marL="0" indent="0" algn="ctr">
              <a:lnSpc>
                <a:spcPts val="2200"/>
              </a:lnSpc>
              <a:buNone/>
            </a:pPr>
            <a:r>
              <a:rPr lang="en-US" sz="2200" b="1" dirty="0">
                <a:solidFill>
                  <a:srgbClr val="3D3838"/>
                </a:solidFill>
                <a:latin typeface="Abadi" panose="020B0604020104020204" pitchFamily="34" charset="0"/>
                <a:ea typeface="Montserrat Bold" pitchFamily="34" charset="-122"/>
                <a:cs typeface="Montserrat Bold" pitchFamily="34" charset="-120"/>
              </a:rPr>
              <a:t>5</a:t>
            </a:r>
            <a:endParaRPr lang="en-US" sz="2200" dirty="0"/>
          </a:p>
        </p:txBody>
      </p:sp>
      <p:sp>
        <p:nvSpPr>
          <p:cNvPr id="27" name="Text 25"/>
          <p:cNvSpPr/>
          <p:nvPr/>
        </p:nvSpPr>
        <p:spPr>
          <a:xfrm>
            <a:off x="5236282" y="5983135"/>
            <a:ext cx="1036140" cy="339090"/>
          </a:xfrm>
          <a:prstGeom prst="rect">
            <a:avLst/>
          </a:prstGeom>
          <a:noFill/>
          <a:ln/>
        </p:spPr>
        <p:txBody>
          <a:bodyPr wrap="none" lIns="0" tIns="0" rIns="0" bIns="0" rtlCol="0" anchor="t"/>
          <a:lstStyle/>
          <a:p>
            <a:pPr marL="0" indent="0" algn="r">
              <a:lnSpc>
                <a:spcPts val="2300"/>
              </a:lnSpc>
              <a:buNone/>
            </a:pPr>
            <a:r>
              <a:rPr lang="en-US" sz="1850" b="1" dirty="0">
                <a:solidFill>
                  <a:srgbClr val="3D3838"/>
                </a:solidFill>
                <a:latin typeface="Abadi" panose="020B0604020104020204" pitchFamily="34" charset="0"/>
                <a:ea typeface="Montserrat Bold" pitchFamily="34" charset="-122"/>
                <a:cs typeface="Montserrat Bold" pitchFamily="34" charset="-120"/>
              </a:rPr>
              <a:t>Testing</a:t>
            </a:r>
            <a:endParaRPr lang="en-US" sz="1850" dirty="0"/>
          </a:p>
        </p:txBody>
      </p:sp>
      <p:sp>
        <p:nvSpPr>
          <p:cNvPr id="28" name="Text 26"/>
          <p:cNvSpPr/>
          <p:nvPr/>
        </p:nvSpPr>
        <p:spPr>
          <a:xfrm>
            <a:off x="1294686" y="6416278"/>
            <a:ext cx="4982527" cy="622935"/>
          </a:xfrm>
          <a:prstGeom prst="rect">
            <a:avLst/>
          </a:prstGeom>
          <a:noFill/>
          <a:ln/>
        </p:spPr>
        <p:txBody>
          <a:bodyPr wrap="square" lIns="0" tIns="0" rIns="0" bIns="0" rtlCol="0" anchor="t"/>
          <a:lstStyle/>
          <a:p>
            <a:pPr marL="0" indent="0" algn="r">
              <a:lnSpc>
                <a:spcPts val="2450"/>
              </a:lnSpc>
              <a:buNone/>
            </a:pPr>
            <a:r>
              <a:rPr lang="en-US" sz="1600" dirty="0">
                <a:solidFill>
                  <a:srgbClr val="3D3838"/>
                </a:solidFill>
                <a:latin typeface="Source Sans 3" pitchFamily="34" charset="0"/>
                <a:ea typeface="Source Sans 3" pitchFamily="34" charset="-122"/>
                <a:cs typeface="Source Sans 3" pitchFamily="34" charset="-120"/>
              </a:rPr>
              <a:t>Using mock Unit Testing for testing API endpoints, Business logic Services </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7" grpId="0" animBg="1"/>
      <p:bldP spid="18" grpId="0" animBg="1"/>
      <p:bldP spid="22" grpId="0" animBg="1"/>
      <p:bldP spid="23"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1613297"/>
            <a:ext cx="5566648" cy="560903"/>
          </a:xfrm>
          <a:prstGeom prst="rect">
            <a:avLst/>
          </a:prstGeom>
          <a:noFill/>
          <a:ln/>
        </p:spPr>
        <p:txBody>
          <a:bodyPr wrap="none" lIns="0" tIns="0" rIns="0" bIns="0" rtlCol="0" anchor="t"/>
          <a:lstStyle/>
          <a:p>
            <a:pPr marL="0" indent="0" algn="l">
              <a:lnSpc>
                <a:spcPts val="4400"/>
              </a:lnSpc>
              <a:buNone/>
            </a:pPr>
            <a:r>
              <a:rPr lang="en-US" sz="3500" b="1" dirty="0">
                <a:solidFill>
                  <a:srgbClr val="000000"/>
                </a:solidFill>
                <a:latin typeface="Abadi" panose="020B0604020104020204" pitchFamily="34" charset="0"/>
                <a:ea typeface="Montserrat Bold" pitchFamily="34" charset="-122"/>
                <a:cs typeface="Montserrat Bold" pitchFamily="34" charset="-120"/>
              </a:rPr>
              <a:t>Conclusion &amp; Questions</a:t>
            </a:r>
            <a:endParaRPr lang="en-US" sz="3500" dirty="0"/>
          </a:p>
        </p:txBody>
      </p:sp>
      <p:sp>
        <p:nvSpPr>
          <p:cNvPr id="4" name="Text 1"/>
          <p:cNvSpPr/>
          <p:nvPr/>
        </p:nvSpPr>
        <p:spPr>
          <a:xfrm>
            <a:off x="6720364" y="2822019"/>
            <a:ext cx="7046238" cy="740331"/>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Our LMS provides a robust, scalable, and intelligent solution for modern learning environments, built to adapt and empower.</a:t>
            </a:r>
            <a:endParaRPr lang="en-US" sz="1900" dirty="0"/>
          </a:p>
        </p:txBody>
      </p:sp>
      <p:sp>
        <p:nvSpPr>
          <p:cNvPr id="5" name="Shape 2"/>
          <p:cNvSpPr/>
          <p:nvPr/>
        </p:nvSpPr>
        <p:spPr>
          <a:xfrm>
            <a:off x="6350198" y="2544366"/>
            <a:ext cx="30480" cy="1295638"/>
          </a:xfrm>
          <a:prstGeom prst="rect">
            <a:avLst/>
          </a:prstGeom>
          <a:solidFill>
            <a:srgbClr val="2D2E34"/>
          </a:solidFill>
          <a:ln/>
        </p:spPr>
        <p:txBody>
          <a:bodyPr/>
          <a:lstStyle/>
          <a:p>
            <a:endParaRPr lang="en-US"/>
          </a:p>
        </p:txBody>
      </p:sp>
      <p:sp>
        <p:nvSpPr>
          <p:cNvPr id="6" name="Text 3"/>
          <p:cNvSpPr/>
          <p:nvPr/>
        </p:nvSpPr>
        <p:spPr>
          <a:xfrm>
            <a:off x="6350198" y="4117657"/>
            <a:ext cx="7416403" cy="1850827"/>
          </a:xfrm>
          <a:prstGeom prst="rect">
            <a:avLst/>
          </a:prstGeom>
          <a:noFill/>
          <a:ln/>
        </p:spPr>
        <p:txBody>
          <a:bodyPr wrap="squar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We have presented a comprehensive system designed to revolutionise learning management, covering everything from flexible course delivery to advanced assessment and seamless communication. We believe this platform will significantly enhance educational and corporate training experiences.</a:t>
            </a:r>
            <a:endParaRPr lang="en-US" sz="1900" dirty="0"/>
          </a:p>
        </p:txBody>
      </p:sp>
      <p:sp>
        <p:nvSpPr>
          <p:cNvPr id="7" name="Text 4"/>
          <p:cNvSpPr/>
          <p:nvPr/>
        </p:nvSpPr>
        <p:spPr>
          <a:xfrm>
            <a:off x="6350198" y="6246138"/>
            <a:ext cx="7416403" cy="370165"/>
          </a:xfrm>
          <a:prstGeom prst="rect">
            <a:avLst/>
          </a:prstGeom>
          <a:noFill/>
          <a:ln/>
        </p:spPr>
        <p:txBody>
          <a:bodyPr wrap="none" lIns="0" tIns="0" rIns="0" bIns="0" rtlCol="0" anchor="t"/>
          <a:lstStyle/>
          <a:p>
            <a:pPr marL="0" indent="0" algn="l">
              <a:lnSpc>
                <a:spcPts val="2900"/>
              </a:lnSpc>
              <a:buNone/>
            </a:pPr>
            <a:r>
              <a:rPr lang="en-US" sz="1900" dirty="0">
                <a:solidFill>
                  <a:srgbClr val="3D3838"/>
                </a:solidFill>
                <a:latin typeface="Source Sans 3" pitchFamily="34" charset="0"/>
                <a:ea typeface="Source Sans 3" pitchFamily="34" charset="-122"/>
                <a:cs typeface="Source Sans 3" pitchFamily="34" charset="-120"/>
              </a:rPr>
              <a:t>We now open the floor for any questions you may have.</a:t>
            </a:r>
            <a:endParaRPr lang="en-US" sz="1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713</Words>
  <Application>Microsoft Office PowerPoint</Application>
  <PresentationFormat>Custom</PresentationFormat>
  <Paragraphs>83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Source Sans 3</vt:lpstr>
      <vt:lpstr>Abadi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علي محسن</cp:lastModifiedBy>
  <cp:revision>5</cp:revision>
  <dcterms:created xsi:type="dcterms:W3CDTF">2025-12-03T17:48:14Z</dcterms:created>
  <dcterms:modified xsi:type="dcterms:W3CDTF">2025-12-03T19:02:08Z</dcterms:modified>
</cp:coreProperties>
</file>